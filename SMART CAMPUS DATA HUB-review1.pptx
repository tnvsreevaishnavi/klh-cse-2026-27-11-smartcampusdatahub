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7E4D6-C55A-BB7A-3E3D-E01E76A358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C074C99-7D5B-D3C0-A8D7-94338E9E5D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5462422-A3CA-01F3-8B67-A63D9E02D40F}"/>
              </a:ext>
            </a:extLst>
          </p:cNvPr>
          <p:cNvSpPr>
            <a:spLocks noGrp="1"/>
          </p:cNvSpPr>
          <p:nvPr>
            <p:ph type="dt" sz="half" idx="10"/>
          </p:nvPr>
        </p:nvSpPr>
        <p:spPr/>
        <p:txBody>
          <a:bodyPr/>
          <a:lstStyle/>
          <a:p>
            <a:fld id="{AC12B25A-CA81-40E4-926A-B6FAE1AB62BC}" type="datetimeFigureOut">
              <a:rPr lang="en-IN" smtClean="0"/>
              <a:t>18-09-2026</a:t>
            </a:fld>
            <a:endParaRPr lang="en-IN"/>
          </a:p>
        </p:txBody>
      </p:sp>
      <p:sp>
        <p:nvSpPr>
          <p:cNvPr id="5" name="Footer Placeholder 4">
            <a:extLst>
              <a:ext uri="{FF2B5EF4-FFF2-40B4-BE49-F238E27FC236}">
                <a16:creationId xmlns:a16="http://schemas.microsoft.com/office/drawing/2014/main" id="{5980520B-707A-4B29-1302-EF17F11D7F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BDC876-96DA-FFFE-0710-55AB07D01A43}"/>
              </a:ext>
            </a:extLst>
          </p:cNvPr>
          <p:cNvSpPr>
            <a:spLocks noGrp="1"/>
          </p:cNvSpPr>
          <p:nvPr>
            <p:ph type="sldNum" sz="quarter" idx="12"/>
          </p:nvPr>
        </p:nvSpPr>
        <p:spPr/>
        <p:txBody>
          <a:bodyPr/>
          <a:lstStyle/>
          <a:p>
            <a:fld id="{FE0E25D5-0729-48FD-B783-60F3B31303E1}" type="slidenum">
              <a:rPr lang="en-IN" smtClean="0"/>
              <a:t>‹#›</a:t>
            </a:fld>
            <a:endParaRPr lang="en-IN"/>
          </a:p>
        </p:txBody>
      </p:sp>
    </p:spTree>
    <p:extLst>
      <p:ext uri="{BB962C8B-B14F-4D97-AF65-F5344CB8AC3E}">
        <p14:creationId xmlns:p14="http://schemas.microsoft.com/office/powerpoint/2010/main" val="2692509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E9260-5BDD-0415-B3A4-A3816134FBF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A0EA489-4BED-5F73-253D-1906D7F1F3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93F753-BF79-6DB1-E207-127A4D09FC7D}"/>
              </a:ext>
            </a:extLst>
          </p:cNvPr>
          <p:cNvSpPr>
            <a:spLocks noGrp="1"/>
          </p:cNvSpPr>
          <p:nvPr>
            <p:ph type="dt" sz="half" idx="10"/>
          </p:nvPr>
        </p:nvSpPr>
        <p:spPr/>
        <p:txBody>
          <a:bodyPr/>
          <a:lstStyle/>
          <a:p>
            <a:fld id="{AC12B25A-CA81-40E4-926A-B6FAE1AB62BC}" type="datetimeFigureOut">
              <a:rPr lang="en-IN" smtClean="0"/>
              <a:t>18-09-2026</a:t>
            </a:fld>
            <a:endParaRPr lang="en-IN"/>
          </a:p>
        </p:txBody>
      </p:sp>
      <p:sp>
        <p:nvSpPr>
          <p:cNvPr id="5" name="Footer Placeholder 4">
            <a:extLst>
              <a:ext uri="{FF2B5EF4-FFF2-40B4-BE49-F238E27FC236}">
                <a16:creationId xmlns:a16="http://schemas.microsoft.com/office/drawing/2014/main" id="{65B8950E-7CA8-0935-510D-24BD2CAEC4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AE9E6D-9CAE-31A3-0FB7-BD6830A20A93}"/>
              </a:ext>
            </a:extLst>
          </p:cNvPr>
          <p:cNvSpPr>
            <a:spLocks noGrp="1"/>
          </p:cNvSpPr>
          <p:nvPr>
            <p:ph type="sldNum" sz="quarter" idx="12"/>
          </p:nvPr>
        </p:nvSpPr>
        <p:spPr/>
        <p:txBody>
          <a:bodyPr/>
          <a:lstStyle/>
          <a:p>
            <a:fld id="{FE0E25D5-0729-48FD-B783-60F3B31303E1}" type="slidenum">
              <a:rPr lang="en-IN" smtClean="0"/>
              <a:t>‹#›</a:t>
            </a:fld>
            <a:endParaRPr lang="en-IN"/>
          </a:p>
        </p:txBody>
      </p:sp>
    </p:spTree>
    <p:extLst>
      <p:ext uri="{BB962C8B-B14F-4D97-AF65-F5344CB8AC3E}">
        <p14:creationId xmlns:p14="http://schemas.microsoft.com/office/powerpoint/2010/main" val="3401451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53CE8-0F66-8C09-5DA7-A1926D4FDF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D4D35BB-934F-9D29-B99D-D9BD203931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613AEB-3426-E496-76F7-8045F867882E}"/>
              </a:ext>
            </a:extLst>
          </p:cNvPr>
          <p:cNvSpPr>
            <a:spLocks noGrp="1"/>
          </p:cNvSpPr>
          <p:nvPr>
            <p:ph type="dt" sz="half" idx="10"/>
          </p:nvPr>
        </p:nvSpPr>
        <p:spPr/>
        <p:txBody>
          <a:bodyPr/>
          <a:lstStyle/>
          <a:p>
            <a:fld id="{AC12B25A-CA81-40E4-926A-B6FAE1AB62BC}" type="datetimeFigureOut">
              <a:rPr lang="en-IN" smtClean="0"/>
              <a:t>18-09-2026</a:t>
            </a:fld>
            <a:endParaRPr lang="en-IN"/>
          </a:p>
        </p:txBody>
      </p:sp>
      <p:sp>
        <p:nvSpPr>
          <p:cNvPr id="5" name="Footer Placeholder 4">
            <a:extLst>
              <a:ext uri="{FF2B5EF4-FFF2-40B4-BE49-F238E27FC236}">
                <a16:creationId xmlns:a16="http://schemas.microsoft.com/office/drawing/2014/main" id="{E29B25E7-D7E9-55FE-E5AA-4500A87169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36745F-C966-574A-F4EF-5066BBE54B3B}"/>
              </a:ext>
            </a:extLst>
          </p:cNvPr>
          <p:cNvSpPr>
            <a:spLocks noGrp="1"/>
          </p:cNvSpPr>
          <p:nvPr>
            <p:ph type="sldNum" sz="quarter" idx="12"/>
          </p:nvPr>
        </p:nvSpPr>
        <p:spPr/>
        <p:txBody>
          <a:bodyPr/>
          <a:lstStyle/>
          <a:p>
            <a:fld id="{FE0E25D5-0729-48FD-B783-60F3B31303E1}" type="slidenum">
              <a:rPr lang="en-IN" smtClean="0"/>
              <a:t>‹#›</a:t>
            </a:fld>
            <a:endParaRPr lang="en-IN"/>
          </a:p>
        </p:txBody>
      </p:sp>
    </p:spTree>
    <p:extLst>
      <p:ext uri="{BB962C8B-B14F-4D97-AF65-F5344CB8AC3E}">
        <p14:creationId xmlns:p14="http://schemas.microsoft.com/office/powerpoint/2010/main" val="29233380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12266-568A-8332-416B-83ADBDB07C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32E5103-1C0C-F076-97B1-A370A7FAFA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E09FFDF-18E6-0093-2833-43BFE49C59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798B59D-86AA-6BD0-4CC7-67A487E801FD}"/>
              </a:ext>
            </a:extLst>
          </p:cNvPr>
          <p:cNvSpPr>
            <a:spLocks noGrp="1"/>
          </p:cNvSpPr>
          <p:nvPr>
            <p:ph type="dt" sz="half" idx="10"/>
          </p:nvPr>
        </p:nvSpPr>
        <p:spPr/>
        <p:txBody>
          <a:bodyPr/>
          <a:lstStyle/>
          <a:p>
            <a:fld id="{AC12B25A-CA81-40E4-926A-B6FAE1AB62BC}" type="datetimeFigureOut">
              <a:rPr lang="en-IN" smtClean="0"/>
              <a:t>18-09-2026</a:t>
            </a:fld>
            <a:endParaRPr lang="en-IN"/>
          </a:p>
        </p:txBody>
      </p:sp>
      <p:sp>
        <p:nvSpPr>
          <p:cNvPr id="6" name="Footer Placeholder 5">
            <a:extLst>
              <a:ext uri="{FF2B5EF4-FFF2-40B4-BE49-F238E27FC236}">
                <a16:creationId xmlns:a16="http://schemas.microsoft.com/office/drawing/2014/main" id="{FB417447-3B05-E6FC-0099-15A1180F02F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CCF905-5EB2-0EA8-9670-793507F4506F}"/>
              </a:ext>
            </a:extLst>
          </p:cNvPr>
          <p:cNvSpPr>
            <a:spLocks noGrp="1"/>
          </p:cNvSpPr>
          <p:nvPr>
            <p:ph type="sldNum" sz="quarter" idx="12"/>
          </p:nvPr>
        </p:nvSpPr>
        <p:spPr/>
        <p:txBody>
          <a:bodyPr/>
          <a:lstStyle/>
          <a:p>
            <a:fld id="{FE0E25D5-0729-48FD-B783-60F3B31303E1}" type="slidenum">
              <a:rPr lang="en-IN" smtClean="0"/>
              <a:t>‹#›</a:t>
            </a:fld>
            <a:endParaRPr lang="en-IN"/>
          </a:p>
        </p:txBody>
      </p:sp>
    </p:spTree>
    <p:extLst>
      <p:ext uri="{BB962C8B-B14F-4D97-AF65-F5344CB8AC3E}">
        <p14:creationId xmlns:p14="http://schemas.microsoft.com/office/powerpoint/2010/main" val="1285423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482E8-12DA-6EE4-7CE1-DC94E7EB609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57AD99D-3328-D2B0-6C9C-9C9B188F64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291282-895E-ED08-9421-D929194CB66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DD9A980-9C1A-D76A-B3BC-C90948D7CC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4C396A-777B-8312-5B55-298229BE40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1B96226-56AD-B22C-9764-DA4F73B4B59C}"/>
              </a:ext>
            </a:extLst>
          </p:cNvPr>
          <p:cNvSpPr>
            <a:spLocks noGrp="1"/>
          </p:cNvSpPr>
          <p:nvPr>
            <p:ph type="dt" sz="half" idx="10"/>
          </p:nvPr>
        </p:nvSpPr>
        <p:spPr/>
        <p:txBody>
          <a:bodyPr/>
          <a:lstStyle/>
          <a:p>
            <a:fld id="{AC12B25A-CA81-40E4-926A-B6FAE1AB62BC}" type="datetimeFigureOut">
              <a:rPr lang="en-IN" smtClean="0"/>
              <a:t>18-09-2026</a:t>
            </a:fld>
            <a:endParaRPr lang="en-IN"/>
          </a:p>
        </p:txBody>
      </p:sp>
      <p:sp>
        <p:nvSpPr>
          <p:cNvPr id="8" name="Footer Placeholder 7">
            <a:extLst>
              <a:ext uri="{FF2B5EF4-FFF2-40B4-BE49-F238E27FC236}">
                <a16:creationId xmlns:a16="http://schemas.microsoft.com/office/drawing/2014/main" id="{220BFEC6-F3D5-9AC2-54DD-B6F1372B470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4172807-4C55-3399-B94E-A3AA1D368FA8}"/>
              </a:ext>
            </a:extLst>
          </p:cNvPr>
          <p:cNvSpPr>
            <a:spLocks noGrp="1"/>
          </p:cNvSpPr>
          <p:nvPr>
            <p:ph type="sldNum" sz="quarter" idx="12"/>
          </p:nvPr>
        </p:nvSpPr>
        <p:spPr/>
        <p:txBody>
          <a:bodyPr/>
          <a:lstStyle/>
          <a:p>
            <a:fld id="{FE0E25D5-0729-48FD-B783-60F3B31303E1}" type="slidenum">
              <a:rPr lang="en-IN" smtClean="0"/>
              <a:t>‹#›</a:t>
            </a:fld>
            <a:endParaRPr lang="en-IN"/>
          </a:p>
        </p:txBody>
      </p:sp>
    </p:spTree>
    <p:extLst>
      <p:ext uri="{BB962C8B-B14F-4D97-AF65-F5344CB8AC3E}">
        <p14:creationId xmlns:p14="http://schemas.microsoft.com/office/powerpoint/2010/main" val="828999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BBEE7-A495-7919-E50C-A7519F289F4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1072767-07DB-C6EC-F657-1264164D0862}"/>
              </a:ext>
            </a:extLst>
          </p:cNvPr>
          <p:cNvSpPr>
            <a:spLocks noGrp="1"/>
          </p:cNvSpPr>
          <p:nvPr>
            <p:ph type="dt" sz="half" idx="10"/>
          </p:nvPr>
        </p:nvSpPr>
        <p:spPr/>
        <p:txBody>
          <a:bodyPr/>
          <a:lstStyle/>
          <a:p>
            <a:fld id="{AC12B25A-CA81-40E4-926A-B6FAE1AB62BC}" type="datetimeFigureOut">
              <a:rPr lang="en-IN" smtClean="0"/>
              <a:t>18-09-2026</a:t>
            </a:fld>
            <a:endParaRPr lang="en-IN"/>
          </a:p>
        </p:txBody>
      </p:sp>
      <p:sp>
        <p:nvSpPr>
          <p:cNvPr id="4" name="Footer Placeholder 3">
            <a:extLst>
              <a:ext uri="{FF2B5EF4-FFF2-40B4-BE49-F238E27FC236}">
                <a16:creationId xmlns:a16="http://schemas.microsoft.com/office/drawing/2014/main" id="{54958EBA-203F-7D26-DDD8-3974D78F9D7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DEEE863-C3A7-48C7-ECFB-FAFFFC01DB40}"/>
              </a:ext>
            </a:extLst>
          </p:cNvPr>
          <p:cNvSpPr>
            <a:spLocks noGrp="1"/>
          </p:cNvSpPr>
          <p:nvPr>
            <p:ph type="sldNum" sz="quarter" idx="12"/>
          </p:nvPr>
        </p:nvSpPr>
        <p:spPr/>
        <p:txBody>
          <a:bodyPr/>
          <a:lstStyle/>
          <a:p>
            <a:fld id="{FE0E25D5-0729-48FD-B783-60F3B31303E1}" type="slidenum">
              <a:rPr lang="en-IN" smtClean="0"/>
              <a:t>‹#›</a:t>
            </a:fld>
            <a:endParaRPr lang="en-IN"/>
          </a:p>
        </p:txBody>
      </p:sp>
    </p:spTree>
    <p:extLst>
      <p:ext uri="{BB962C8B-B14F-4D97-AF65-F5344CB8AC3E}">
        <p14:creationId xmlns:p14="http://schemas.microsoft.com/office/powerpoint/2010/main" val="130396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E318C0-CABD-AD31-B424-C8E0CA0A39ED}"/>
              </a:ext>
            </a:extLst>
          </p:cNvPr>
          <p:cNvSpPr>
            <a:spLocks noGrp="1"/>
          </p:cNvSpPr>
          <p:nvPr>
            <p:ph type="dt" sz="half" idx="10"/>
          </p:nvPr>
        </p:nvSpPr>
        <p:spPr/>
        <p:txBody>
          <a:bodyPr/>
          <a:lstStyle/>
          <a:p>
            <a:fld id="{AC12B25A-CA81-40E4-926A-B6FAE1AB62BC}" type="datetimeFigureOut">
              <a:rPr lang="en-IN" smtClean="0"/>
              <a:t>18-09-2026</a:t>
            </a:fld>
            <a:endParaRPr lang="en-IN"/>
          </a:p>
        </p:txBody>
      </p:sp>
      <p:sp>
        <p:nvSpPr>
          <p:cNvPr id="3" name="Footer Placeholder 2">
            <a:extLst>
              <a:ext uri="{FF2B5EF4-FFF2-40B4-BE49-F238E27FC236}">
                <a16:creationId xmlns:a16="http://schemas.microsoft.com/office/drawing/2014/main" id="{983BF107-7504-0BC8-71CC-7B7ADDFF938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A1C6871-50D4-A563-1CC5-60FCBF6862D8}"/>
              </a:ext>
            </a:extLst>
          </p:cNvPr>
          <p:cNvSpPr>
            <a:spLocks noGrp="1"/>
          </p:cNvSpPr>
          <p:nvPr>
            <p:ph type="sldNum" sz="quarter" idx="12"/>
          </p:nvPr>
        </p:nvSpPr>
        <p:spPr/>
        <p:txBody>
          <a:bodyPr/>
          <a:lstStyle/>
          <a:p>
            <a:fld id="{FE0E25D5-0729-48FD-B783-60F3B31303E1}" type="slidenum">
              <a:rPr lang="en-IN" smtClean="0"/>
              <a:t>‹#›</a:t>
            </a:fld>
            <a:endParaRPr lang="en-IN"/>
          </a:p>
        </p:txBody>
      </p:sp>
    </p:spTree>
    <p:extLst>
      <p:ext uri="{BB962C8B-B14F-4D97-AF65-F5344CB8AC3E}">
        <p14:creationId xmlns:p14="http://schemas.microsoft.com/office/powerpoint/2010/main" val="1307763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E52E2-B497-8598-77CE-6508BAA814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88FCC44-2C4B-9FB9-EA68-B7CC7CEC96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8B39A59-9671-75BB-C623-078F2807C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4B2C4F-BA72-E4AB-DE73-AB897E6C1677}"/>
              </a:ext>
            </a:extLst>
          </p:cNvPr>
          <p:cNvSpPr>
            <a:spLocks noGrp="1"/>
          </p:cNvSpPr>
          <p:nvPr>
            <p:ph type="dt" sz="half" idx="10"/>
          </p:nvPr>
        </p:nvSpPr>
        <p:spPr/>
        <p:txBody>
          <a:bodyPr/>
          <a:lstStyle/>
          <a:p>
            <a:fld id="{AC12B25A-CA81-40E4-926A-B6FAE1AB62BC}" type="datetimeFigureOut">
              <a:rPr lang="en-IN" smtClean="0"/>
              <a:t>18-09-2026</a:t>
            </a:fld>
            <a:endParaRPr lang="en-IN"/>
          </a:p>
        </p:txBody>
      </p:sp>
      <p:sp>
        <p:nvSpPr>
          <p:cNvPr id="6" name="Footer Placeholder 5">
            <a:extLst>
              <a:ext uri="{FF2B5EF4-FFF2-40B4-BE49-F238E27FC236}">
                <a16:creationId xmlns:a16="http://schemas.microsoft.com/office/drawing/2014/main" id="{14D00328-12E5-37BC-FFE6-B51F92DAAC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AECD85-528C-906C-1941-97D57E594E13}"/>
              </a:ext>
            </a:extLst>
          </p:cNvPr>
          <p:cNvSpPr>
            <a:spLocks noGrp="1"/>
          </p:cNvSpPr>
          <p:nvPr>
            <p:ph type="sldNum" sz="quarter" idx="12"/>
          </p:nvPr>
        </p:nvSpPr>
        <p:spPr/>
        <p:txBody>
          <a:bodyPr/>
          <a:lstStyle/>
          <a:p>
            <a:fld id="{FE0E25D5-0729-48FD-B783-60F3B31303E1}" type="slidenum">
              <a:rPr lang="en-IN" smtClean="0"/>
              <a:t>‹#›</a:t>
            </a:fld>
            <a:endParaRPr lang="en-IN"/>
          </a:p>
        </p:txBody>
      </p:sp>
    </p:spTree>
    <p:extLst>
      <p:ext uri="{BB962C8B-B14F-4D97-AF65-F5344CB8AC3E}">
        <p14:creationId xmlns:p14="http://schemas.microsoft.com/office/powerpoint/2010/main" val="728526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DB93D-256D-ECBB-E125-046C7DF732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A2A7D05-68E2-52D2-C2E0-5ABF678707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5C271E3-2B9E-1591-5E92-1C10E828B5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973B03-F25F-B4A7-99A8-7120977283F4}"/>
              </a:ext>
            </a:extLst>
          </p:cNvPr>
          <p:cNvSpPr>
            <a:spLocks noGrp="1"/>
          </p:cNvSpPr>
          <p:nvPr>
            <p:ph type="dt" sz="half" idx="10"/>
          </p:nvPr>
        </p:nvSpPr>
        <p:spPr/>
        <p:txBody>
          <a:bodyPr/>
          <a:lstStyle/>
          <a:p>
            <a:fld id="{AC12B25A-CA81-40E4-926A-B6FAE1AB62BC}" type="datetimeFigureOut">
              <a:rPr lang="en-IN" smtClean="0"/>
              <a:t>18-09-2026</a:t>
            </a:fld>
            <a:endParaRPr lang="en-IN"/>
          </a:p>
        </p:txBody>
      </p:sp>
      <p:sp>
        <p:nvSpPr>
          <p:cNvPr id="6" name="Footer Placeholder 5">
            <a:extLst>
              <a:ext uri="{FF2B5EF4-FFF2-40B4-BE49-F238E27FC236}">
                <a16:creationId xmlns:a16="http://schemas.microsoft.com/office/drawing/2014/main" id="{A61DC164-A2B0-0EBB-A1BA-C03CCE888BC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9BDE0FD-C3B5-F989-2E16-1A11E80A6B21}"/>
              </a:ext>
            </a:extLst>
          </p:cNvPr>
          <p:cNvSpPr>
            <a:spLocks noGrp="1"/>
          </p:cNvSpPr>
          <p:nvPr>
            <p:ph type="sldNum" sz="quarter" idx="12"/>
          </p:nvPr>
        </p:nvSpPr>
        <p:spPr/>
        <p:txBody>
          <a:bodyPr/>
          <a:lstStyle/>
          <a:p>
            <a:fld id="{FE0E25D5-0729-48FD-B783-60F3B31303E1}" type="slidenum">
              <a:rPr lang="en-IN" smtClean="0"/>
              <a:t>‹#›</a:t>
            </a:fld>
            <a:endParaRPr lang="en-IN"/>
          </a:p>
        </p:txBody>
      </p:sp>
    </p:spTree>
    <p:extLst>
      <p:ext uri="{BB962C8B-B14F-4D97-AF65-F5344CB8AC3E}">
        <p14:creationId xmlns:p14="http://schemas.microsoft.com/office/powerpoint/2010/main" val="14072271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C42C6-9CDF-3248-680B-FE9ABC62CCD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B5A9488-56D0-A64E-2FA7-E8C513BC52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D06EF0-0874-1669-AE5D-E146AA962E9B}"/>
              </a:ext>
            </a:extLst>
          </p:cNvPr>
          <p:cNvSpPr>
            <a:spLocks noGrp="1"/>
          </p:cNvSpPr>
          <p:nvPr>
            <p:ph type="dt" sz="half" idx="10"/>
          </p:nvPr>
        </p:nvSpPr>
        <p:spPr/>
        <p:txBody>
          <a:bodyPr/>
          <a:lstStyle/>
          <a:p>
            <a:fld id="{AC12B25A-CA81-40E4-926A-B6FAE1AB62BC}" type="datetimeFigureOut">
              <a:rPr lang="en-IN" smtClean="0"/>
              <a:t>18-09-2026</a:t>
            </a:fld>
            <a:endParaRPr lang="en-IN"/>
          </a:p>
        </p:txBody>
      </p:sp>
      <p:sp>
        <p:nvSpPr>
          <p:cNvPr id="5" name="Footer Placeholder 4">
            <a:extLst>
              <a:ext uri="{FF2B5EF4-FFF2-40B4-BE49-F238E27FC236}">
                <a16:creationId xmlns:a16="http://schemas.microsoft.com/office/drawing/2014/main" id="{42142CCB-083C-5ADA-B3D3-3BC8794053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E1FDD4-4679-159B-8F05-91F4BDB59630}"/>
              </a:ext>
            </a:extLst>
          </p:cNvPr>
          <p:cNvSpPr>
            <a:spLocks noGrp="1"/>
          </p:cNvSpPr>
          <p:nvPr>
            <p:ph type="sldNum" sz="quarter" idx="12"/>
          </p:nvPr>
        </p:nvSpPr>
        <p:spPr/>
        <p:txBody>
          <a:bodyPr/>
          <a:lstStyle/>
          <a:p>
            <a:fld id="{FE0E25D5-0729-48FD-B783-60F3B31303E1}" type="slidenum">
              <a:rPr lang="en-IN" smtClean="0"/>
              <a:t>‹#›</a:t>
            </a:fld>
            <a:endParaRPr lang="en-IN"/>
          </a:p>
        </p:txBody>
      </p:sp>
    </p:spTree>
    <p:extLst>
      <p:ext uri="{BB962C8B-B14F-4D97-AF65-F5344CB8AC3E}">
        <p14:creationId xmlns:p14="http://schemas.microsoft.com/office/powerpoint/2010/main" val="2191999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250A0A-FAA4-B462-7290-F3E8077F7B5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CBC6C21-0901-E16E-82A5-E91118061C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D5E00C-2E17-0768-2771-7726EB7F8608}"/>
              </a:ext>
            </a:extLst>
          </p:cNvPr>
          <p:cNvSpPr>
            <a:spLocks noGrp="1"/>
          </p:cNvSpPr>
          <p:nvPr>
            <p:ph type="dt" sz="half" idx="10"/>
          </p:nvPr>
        </p:nvSpPr>
        <p:spPr/>
        <p:txBody>
          <a:bodyPr/>
          <a:lstStyle/>
          <a:p>
            <a:fld id="{AC12B25A-CA81-40E4-926A-B6FAE1AB62BC}" type="datetimeFigureOut">
              <a:rPr lang="en-IN" smtClean="0"/>
              <a:t>18-09-2026</a:t>
            </a:fld>
            <a:endParaRPr lang="en-IN"/>
          </a:p>
        </p:txBody>
      </p:sp>
      <p:sp>
        <p:nvSpPr>
          <p:cNvPr id="5" name="Footer Placeholder 4">
            <a:extLst>
              <a:ext uri="{FF2B5EF4-FFF2-40B4-BE49-F238E27FC236}">
                <a16:creationId xmlns:a16="http://schemas.microsoft.com/office/drawing/2014/main" id="{776F98CB-B077-FFD2-5659-E9E7A9AB32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ED6A18-950F-DFA8-85B4-28289AC964D3}"/>
              </a:ext>
            </a:extLst>
          </p:cNvPr>
          <p:cNvSpPr>
            <a:spLocks noGrp="1"/>
          </p:cNvSpPr>
          <p:nvPr>
            <p:ph type="sldNum" sz="quarter" idx="12"/>
          </p:nvPr>
        </p:nvSpPr>
        <p:spPr/>
        <p:txBody>
          <a:bodyPr/>
          <a:lstStyle/>
          <a:p>
            <a:fld id="{FE0E25D5-0729-48FD-B783-60F3B31303E1}" type="slidenum">
              <a:rPr lang="en-IN" smtClean="0"/>
              <a:t>‹#›</a:t>
            </a:fld>
            <a:endParaRPr lang="en-IN"/>
          </a:p>
        </p:txBody>
      </p:sp>
    </p:spTree>
    <p:extLst>
      <p:ext uri="{BB962C8B-B14F-4D97-AF65-F5344CB8AC3E}">
        <p14:creationId xmlns:p14="http://schemas.microsoft.com/office/powerpoint/2010/main" val="437664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B2FD64-2838-BFF4-7AB2-C99C4E87AF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14674E-4A73-78ED-E16F-AD46FF61BA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2D2BC0-0A90-2A84-D8E2-B987A2896F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12B25A-CA81-40E4-926A-B6FAE1AB62BC}" type="datetimeFigureOut">
              <a:rPr lang="en-IN" smtClean="0"/>
              <a:t>18-09-2026</a:t>
            </a:fld>
            <a:endParaRPr lang="en-IN"/>
          </a:p>
        </p:txBody>
      </p:sp>
      <p:sp>
        <p:nvSpPr>
          <p:cNvPr id="5" name="Footer Placeholder 4">
            <a:extLst>
              <a:ext uri="{FF2B5EF4-FFF2-40B4-BE49-F238E27FC236}">
                <a16:creationId xmlns:a16="http://schemas.microsoft.com/office/drawing/2014/main" id="{0E40FD81-62D9-3496-C5B7-7BED3C8019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0077B15-9862-39EF-1C53-E018A21E2E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0E25D5-0729-48FD-B783-60F3B31303E1}" type="slidenum">
              <a:rPr lang="en-IN" smtClean="0"/>
              <a:t>‹#›</a:t>
            </a:fld>
            <a:endParaRPr lang="en-IN"/>
          </a:p>
        </p:txBody>
      </p:sp>
    </p:spTree>
    <p:extLst>
      <p:ext uri="{BB962C8B-B14F-4D97-AF65-F5344CB8AC3E}">
        <p14:creationId xmlns:p14="http://schemas.microsoft.com/office/powerpoint/2010/main" val="33754500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E9228-463B-3425-006D-6927D6B2DE1F}"/>
              </a:ext>
            </a:extLst>
          </p:cNvPr>
          <p:cNvSpPr>
            <a:spLocks noGrp="1"/>
          </p:cNvSpPr>
          <p:nvPr>
            <p:ph type="ctrTitle"/>
          </p:nvPr>
        </p:nvSpPr>
        <p:spPr>
          <a:xfrm>
            <a:off x="1524000" y="13264"/>
            <a:ext cx="9144000" cy="1002890"/>
          </a:xfrm>
        </p:spPr>
        <p:txBody>
          <a:bodyPr>
            <a:normAutofit/>
          </a:bodyPr>
          <a:lstStyle/>
          <a:p>
            <a:r>
              <a:rPr lang="en-IN" sz="3600" dirty="0">
                <a:latin typeface="+mn-lt"/>
              </a:rPr>
              <a:t>SMART CAMPUS DATA HUB</a:t>
            </a:r>
          </a:p>
        </p:txBody>
      </p:sp>
      <p:sp>
        <p:nvSpPr>
          <p:cNvPr id="3" name="Subtitle 2">
            <a:extLst>
              <a:ext uri="{FF2B5EF4-FFF2-40B4-BE49-F238E27FC236}">
                <a16:creationId xmlns:a16="http://schemas.microsoft.com/office/drawing/2014/main" id="{A92D9D14-A53C-7555-DB51-95FA039C32E5}"/>
              </a:ext>
            </a:extLst>
          </p:cNvPr>
          <p:cNvSpPr>
            <a:spLocks noGrp="1"/>
          </p:cNvSpPr>
          <p:nvPr>
            <p:ph type="subTitle" idx="1"/>
          </p:nvPr>
        </p:nvSpPr>
        <p:spPr>
          <a:xfrm>
            <a:off x="1524000" y="1297858"/>
            <a:ext cx="9144000" cy="4070555"/>
          </a:xfrm>
        </p:spPr>
        <p:txBody>
          <a:bodyPr>
            <a:normAutofit/>
          </a:bodyPr>
          <a:lstStyle/>
          <a:p>
            <a:pPr>
              <a:lnSpc>
                <a:spcPct val="75000"/>
              </a:lnSpc>
            </a:pPr>
            <a:r>
              <a:rPr lang="en-IN" b="1" dirty="0"/>
              <a:t>REVIEW - 2</a:t>
            </a:r>
          </a:p>
          <a:p>
            <a:pPr>
              <a:lnSpc>
                <a:spcPct val="75000"/>
              </a:lnSpc>
            </a:pPr>
            <a:r>
              <a:rPr lang="en-IN" b="1" dirty="0"/>
              <a:t>Team Number-11</a:t>
            </a:r>
          </a:p>
          <a:p>
            <a:pPr>
              <a:lnSpc>
                <a:spcPct val="75000"/>
              </a:lnSpc>
            </a:pPr>
            <a:r>
              <a:rPr lang="en-IN" b="1" dirty="0"/>
              <a:t>Name                              Roll No.</a:t>
            </a:r>
          </a:p>
          <a:p>
            <a:pPr>
              <a:lnSpc>
                <a:spcPct val="75000"/>
              </a:lnSpc>
            </a:pPr>
            <a:r>
              <a:rPr lang="en-IN" dirty="0"/>
              <a:t>D </a:t>
            </a:r>
            <a:r>
              <a:rPr lang="en-IN" dirty="0" err="1"/>
              <a:t>Darishma</a:t>
            </a:r>
            <a:r>
              <a:rPr lang="en-IN" dirty="0"/>
              <a:t>                     2420030463</a:t>
            </a:r>
          </a:p>
          <a:p>
            <a:pPr>
              <a:lnSpc>
                <a:spcPct val="75000"/>
              </a:lnSpc>
            </a:pPr>
            <a:r>
              <a:rPr lang="en-IN" dirty="0"/>
              <a:t>TNV Sree Vaishnavi       2420030664</a:t>
            </a:r>
          </a:p>
          <a:p>
            <a:pPr>
              <a:lnSpc>
                <a:spcPct val="75000"/>
              </a:lnSpc>
            </a:pPr>
            <a:r>
              <a:rPr lang="en-IN" dirty="0"/>
              <a:t>Section - 4</a:t>
            </a:r>
          </a:p>
          <a:p>
            <a:pPr>
              <a:lnSpc>
                <a:spcPct val="75000"/>
              </a:lnSpc>
            </a:pPr>
            <a:r>
              <a:rPr lang="en-IN" dirty="0">
                <a:solidFill>
                  <a:srgbClr val="FF0000"/>
                </a:solidFill>
              </a:rPr>
              <a:t>Under the Guidance of </a:t>
            </a:r>
          </a:p>
          <a:p>
            <a:pPr>
              <a:lnSpc>
                <a:spcPct val="75000"/>
              </a:lnSpc>
            </a:pPr>
            <a:r>
              <a:rPr lang="en-IN" dirty="0">
                <a:solidFill>
                  <a:srgbClr val="FF0000"/>
                </a:solidFill>
              </a:rPr>
              <a:t> Dr. N Shirisha</a:t>
            </a:r>
          </a:p>
          <a:p>
            <a:pPr>
              <a:lnSpc>
                <a:spcPct val="75000"/>
              </a:lnSpc>
            </a:pPr>
            <a:r>
              <a:rPr lang="en-IN" dirty="0">
                <a:solidFill>
                  <a:srgbClr val="FF0000"/>
                </a:solidFill>
              </a:rPr>
              <a:t>Associate Professor </a:t>
            </a:r>
          </a:p>
          <a:p>
            <a:pPr>
              <a:lnSpc>
                <a:spcPct val="75000"/>
              </a:lnSpc>
            </a:pPr>
            <a:r>
              <a:rPr lang="en-IN" dirty="0">
                <a:solidFill>
                  <a:schemeClr val="accent5">
                    <a:lumMod val="75000"/>
                  </a:schemeClr>
                </a:solidFill>
              </a:rPr>
              <a:t>Department of Computer Science And Engineering </a:t>
            </a:r>
            <a:endParaRPr lang="en-IN" dirty="0"/>
          </a:p>
          <a:p>
            <a:pPr>
              <a:lnSpc>
                <a:spcPct val="75000"/>
              </a:lnSpc>
            </a:pPr>
            <a:endParaRPr lang="en-IN" dirty="0">
              <a:solidFill>
                <a:srgbClr val="FF0000"/>
              </a:solidFill>
            </a:endParaRPr>
          </a:p>
          <a:p>
            <a:pPr>
              <a:lnSpc>
                <a:spcPct val="75000"/>
              </a:lnSpc>
            </a:pPr>
            <a:endParaRPr lang="en-IN" dirty="0"/>
          </a:p>
          <a:p>
            <a:pPr>
              <a:lnSpc>
                <a:spcPct val="75000"/>
              </a:lnSpc>
            </a:pPr>
            <a:endParaRPr lang="en-IN" dirty="0"/>
          </a:p>
        </p:txBody>
      </p:sp>
      <p:pic>
        <p:nvPicPr>
          <p:cNvPr id="4" name="Picture 3" descr="MAPS &amp; DIRECTIONS - Best Private University in Telangana ...">
            <a:extLst>
              <a:ext uri="{FF2B5EF4-FFF2-40B4-BE49-F238E27FC236}">
                <a16:creationId xmlns:a16="http://schemas.microsoft.com/office/drawing/2014/main" id="{11A1FAB5-1FB8-EA99-940C-5BDF6A9A910E}"/>
              </a:ext>
            </a:extLst>
          </p:cNvPr>
          <p:cNvPicPr>
            <a:picLocks noChangeAspect="1"/>
          </p:cNvPicPr>
          <p:nvPr/>
        </p:nvPicPr>
        <p:blipFill>
          <a:blip r:embed="rId2"/>
          <a:stretch>
            <a:fillRect/>
          </a:stretch>
        </p:blipFill>
        <p:spPr>
          <a:xfrm>
            <a:off x="79272" y="13264"/>
            <a:ext cx="2063387" cy="1166607"/>
          </a:xfrm>
          <a:prstGeom prst="rect">
            <a:avLst/>
          </a:prstGeom>
        </p:spPr>
      </p:pic>
      <p:pic>
        <p:nvPicPr>
          <p:cNvPr id="5" name="Picture 4" descr="MAPS &amp; DIRECTIONS - Best Private University in Telangana ...">
            <a:extLst>
              <a:ext uri="{FF2B5EF4-FFF2-40B4-BE49-F238E27FC236}">
                <a16:creationId xmlns:a16="http://schemas.microsoft.com/office/drawing/2014/main" id="{55B89551-0077-37F5-92ED-13F4B98FC6C0}"/>
              </a:ext>
            </a:extLst>
          </p:cNvPr>
          <p:cNvPicPr>
            <a:picLocks noChangeAspect="1"/>
          </p:cNvPicPr>
          <p:nvPr/>
        </p:nvPicPr>
        <p:blipFill>
          <a:blip r:embed="rId2"/>
          <a:stretch>
            <a:fillRect/>
          </a:stretch>
        </p:blipFill>
        <p:spPr>
          <a:xfrm>
            <a:off x="4857750" y="5297589"/>
            <a:ext cx="2476500" cy="1400175"/>
          </a:xfrm>
          <a:prstGeom prst="rect">
            <a:avLst/>
          </a:prstGeom>
        </p:spPr>
      </p:pic>
    </p:spTree>
    <p:extLst>
      <p:ext uri="{BB962C8B-B14F-4D97-AF65-F5344CB8AC3E}">
        <p14:creationId xmlns:p14="http://schemas.microsoft.com/office/powerpoint/2010/main" val="2270645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4D85F-F0E9-50A6-6561-E1642D60044F}"/>
              </a:ext>
            </a:extLst>
          </p:cNvPr>
          <p:cNvSpPr>
            <a:spLocks noGrp="1"/>
          </p:cNvSpPr>
          <p:nvPr>
            <p:ph type="title"/>
          </p:nvPr>
        </p:nvSpPr>
        <p:spPr>
          <a:xfrm>
            <a:off x="838200" y="151427"/>
            <a:ext cx="10515600" cy="529610"/>
          </a:xfrm>
        </p:spPr>
        <p:txBody>
          <a:bodyPr>
            <a:noAutofit/>
          </a:bodyPr>
          <a:lstStyle/>
          <a:p>
            <a:pPr algn="ctr"/>
            <a:r>
              <a:rPr lang="en-IN" sz="2800" b="1" dirty="0">
                <a:latin typeface="+mn-lt"/>
              </a:rPr>
              <a:t>Abstract</a:t>
            </a:r>
          </a:p>
        </p:txBody>
      </p:sp>
      <p:sp>
        <p:nvSpPr>
          <p:cNvPr id="3" name="Content Placeholder 2">
            <a:extLst>
              <a:ext uri="{FF2B5EF4-FFF2-40B4-BE49-F238E27FC236}">
                <a16:creationId xmlns:a16="http://schemas.microsoft.com/office/drawing/2014/main" id="{5F5DF106-91CA-5064-CB77-7E31F8CDD50C}"/>
              </a:ext>
            </a:extLst>
          </p:cNvPr>
          <p:cNvSpPr>
            <a:spLocks noGrp="1"/>
          </p:cNvSpPr>
          <p:nvPr>
            <p:ph idx="1"/>
          </p:nvPr>
        </p:nvSpPr>
        <p:spPr>
          <a:xfrm>
            <a:off x="838200" y="813439"/>
            <a:ext cx="10515600" cy="5231121"/>
          </a:xfrm>
        </p:spPr>
        <p:txBody>
          <a:bodyPr>
            <a:noAutofit/>
          </a:bodyPr>
          <a:lstStyle/>
          <a:p>
            <a:pPr algn="just"/>
            <a:r>
              <a:rPr lang="en-IN" sz="1600" dirty="0"/>
              <a:t>The Smart Campus Data Hub is a centralized data engineering platform designed to collect, integrate, process, validate, and organize data generated across different campus activities. This includes student records, attendance, academic performance, events, transportation, facilities, and other campus services. When these datasets are maintained separately across applications, databases, and spreadsheets, it becomes difficult to obtain consistent and reliable information for analysis and decision-making.</a:t>
            </a:r>
          </a:p>
          <a:p>
            <a:pPr algn="just"/>
            <a:r>
              <a:rPr lang="en-IN" sz="1600" dirty="0"/>
              <a:t>The proposed project addresses this data fragmentation by establishing a unified infrastructure that brings heterogeneous campus data into a structured and accessible environment. The system follows a systematic workflow beginning with multi-source data ingestion, where raw data is collected and converted into compatible formats.</a:t>
            </a:r>
          </a:p>
          <a:p>
            <a:pPr algn="just"/>
            <a:r>
              <a:rPr lang="en-IN" sz="1600" dirty="0"/>
              <a:t>Data preprocessing and cleaning are performed to handle missing values, duplicate records, inconsistent formats, and invalid information. After validation, the data is transformed, standardized, and organized into structured datasets before being stored in a centralized data warehouse or analytical database.</a:t>
            </a:r>
          </a:p>
          <a:p>
            <a:pPr algn="just"/>
            <a:r>
              <a:rPr lang="en-IN" sz="1600" dirty="0"/>
              <a:t>The platform demonstrates important data engineering concepts such as ETL/ELT processing, data integration, transformation, data quality management, centralized storage, aggregation, and analytical querying. The processed data can be accessed through controlled interfaces and used for dashboards, reports, and analytical applications.</a:t>
            </a:r>
          </a:p>
          <a:p>
            <a:pPr algn="just"/>
            <a:r>
              <a:rPr lang="en-IN" sz="1600" dirty="0"/>
              <a:t>The platform also provides a scalable foundation for future enhancements, including real-time data streaming, cloud-based processing, automated quality monitoring, machine learning pipelines, predictive analytics, and IoT data integration.</a:t>
            </a:r>
          </a:p>
          <a:p>
            <a:pPr algn="just"/>
            <a:r>
              <a:rPr lang="en-IN" sz="1600" dirty="0"/>
              <a:t>Overall, the Smart Campus Data Hub transforms fragmented campus information into reliable, organized, and analysis-ready data, enabling efficient reporting and supporting data-driven decision-making across the campus. </a:t>
            </a:r>
          </a:p>
        </p:txBody>
      </p:sp>
    </p:spTree>
    <p:extLst>
      <p:ext uri="{BB962C8B-B14F-4D97-AF65-F5344CB8AC3E}">
        <p14:creationId xmlns:p14="http://schemas.microsoft.com/office/powerpoint/2010/main" val="279791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3C145-CE7D-29F1-EDEE-D1720FB82E8B}"/>
              </a:ext>
            </a:extLst>
          </p:cNvPr>
          <p:cNvSpPr>
            <a:spLocks noGrp="1"/>
          </p:cNvSpPr>
          <p:nvPr>
            <p:ph type="title"/>
          </p:nvPr>
        </p:nvSpPr>
        <p:spPr>
          <a:xfrm>
            <a:off x="838200" y="13775"/>
            <a:ext cx="10515600" cy="667262"/>
          </a:xfrm>
        </p:spPr>
        <p:txBody>
          <a:bodyPr>
            <a:normAutofit/>
          </a:bodyPr>
          <a:lstStyle/>
          <a:p>
            <a:pPr algn="ctr"/>
            <a:r>
              <a:rPr lang="en-IN" sz="2800" b="1" dirty="0">
                <a:latin typeface="+mn-lt"/>
              </a:rPr>
              <a:t>Introduction</a:t>
            </a:r>
          </a:p>
        </p:txBody>
      </p:sp>
      <p:sp>
        <p:nvSpPr>
          <p:cNvPr id="3" name="Content Placeholder 2">
            <a:extLst>
              <a:ext uri="{FF2B5EF4-FFF2-40B4-BE49-F238E27FC236}">
                <a16:creationId xmlns:a16="http://schemas.microsoft.com/office/drawing/2014/main" id="{C04824D2-5EC3-E2E7-A2BC-2B1BCF3BDDCE}"/>
              </a:ext>
            </a:extLst>
          </p:cNvPr>
          <p:cNvSpPr>
            <a:spLocks noGrp="1"/>
          </p:cNvSpPr>
          <p:nvPr>
            <p:ph idx="1"/>
          </p:nvPr>
        </p:nvSpPr>
        <p:spPr>
          <a:xfrm>
            <a:off x="838200" y="681037"/>
            <a:ext cx="10515600" cy="6004898"/>
          </a:xfrm>
        </p:spPr>
        <p:txBody>
          <a:bodyPr>
            <a:noAutofit/>
          </a:bodyPr>
          <a:lstStyle/>
          <a:p>
            <a:pPr marL="0" indent="0">
              <a:buNone/>
            </a:pPr>
            <a:r>
              <a:rPr lang="en-IN" sz="1600" dirty="0"/>
              <a:t>Modern educational institutions generate large volumes of data through various campus activities and services. This includes information related to:</a:t>
            </a:r>
          </a:p>
          <a:p>
            <a:pPr lvl="0">
              <a:lnSpc>
                <a:spcPct val="70000"/>
              </a:lnSpc>
            </a:pPr>
            <a:r>
              <a:rPr lang="en-IN" sz="1600" dirty="0"/>
              <a:t>Student records </a:t>
            </a:r>
          </a:p>
          <a:p>
            <a:pPr lvl="0">
              <a:lnSpc>
                <a:spcPct val="70000"/>
              </a:lnSpc>
            </a:pPr>
            <a:r>
              <a:rPr lang="en-IN" sz="1600" dirty="0"/>
              <a:t>Attendance </a:t>
            </a:r>
          </a:p>
          <a:p>
            <a:pPr lvl="0">
              <a:lnSpc>
                <a:spcPct val="70000"/>
              </a:lnSpc>
            </a:pPr>
            <a:r>
              <a:rPr lang="en-IN" sz="1600" dirty="0"/>
              <a:t>Academic performance </a:t>
            </a:r>
          </a:p>
          <a:p>
            <a:pPr lvl="0">
              <a:lnSpc>
                <a:spcPct val="70000"/>
              </a:lnSpc>
            </a:pPr>
            <a:r>
              <a:rPr lang="en-IN" sz="1600" dirty="0"/>
              <a:t>Campus events </a:t>
            </a:r>
          </a:p>
          <a:p>
            <a:pPr lvl="0">
              <a:lnSpc>
                <a:spcPct val="70000"/>
              </a:lnSpc>
            </a:pPr>
            <a:r>
              <a:rPr lang="en-IN" sz="1600" dirty="0"/>
              <a:t>Transportation </a:t>
            </a:r>
          </a:p>
          <a:p>
            <a:pPr lvl="0">
              <a:lnSpc>
                <a:spcPct val="70000"/>
              </a:lnSpc>
            </a:pPr>
            <a:r>
              <a:rPr lang="en-IN" sz="1600" dirty="0"/>
              <a:t>Facilities and services </a:t>
            </a:r>
          </a:p>
          <a:p>
            <a:pPr lvl="0">
              <a:lnSpc>
                <a:spcPct val="70000"/>
              </a:lnSpc>
            </a:pPr>
            <a:r>
              <a:rPr lang="en-IN" sz="1600" dirty="0"/>
              <a:t>Other campus applications and platforms </a:t>
            </a:r>
          </a:p>
          <a:p>
            <a:pPr marL="0" indent="0">
              <a:lnSpc>
                <a:spcPct val="70000"/>
              </a:lnSpc>
              <a:buNone/>
            </a:pPr>
            <a:r>
              <a:rPr lang="en-IN" sz="1600" dirty="0"/>
              <a:t>However, this information is often stored across multiple applications, databases, spreadsheets, and service platforms.</a:t>
            </a:r>
          </a:p>
          <a:p>
            <a:pPr marL="0" indent="0">
              <a:lnSpc>
                <a:spcPct val="70000"/>
              </a:lnSpc>
              <a:buNone/>
            </a:pPr>
            <a:r>
              <a:rPr lang="en-IN" sz="1600" dirty="0"/>
              <a:t>This creates challenges such as:</a:t>
            </a:r>
          </a:p>
          <a:p>
            <a:pPr lvl="0">
              <a:lnSpc>
                <a:spcPct val="70000"/>
              </a:lnSpc>
            </a:pPr>
            <a:r>
              <a:rPr lang="en-IN" sz="1600" dirty="0"/>
              <a:t>Data duplication </a:t>
            </a:r>
          </a:p>
          <a:p>
            <a:pPr lvl="0">
              <a:lnSpc>
                <a:spcPct val="70000"/>
              </a:lnSpc>
            </a:pPr>
            <a:r>
              <a:rPr lang="en-IN" sz="1600" dirty="0"/>
              <a:t>Inconsistent data formats </a:t>
            </a:r>
          </a:p>
          <a:p>
            <a:pPr lvl="0">
              <a:lnSpc>
                <a:spcPct val="70000"/>
              </a:lnSpc>
            </a:pPr>
            <a:r>
              <a:rPr lang="en-IN" sz="1600" dirty="0"/>
              <a:t>Incomplete records </a:t>
            </a:r>
          </a:p>
          <a:p>
            <a:pPr lvl="0">
              <a:lnSpc>
                <a:spcPct val="70000"/>
              </a:lnSpc>
            </a:pPr>
            <a:r>
              <a:rPr lang="en-IN" sz="1600" dirty="0"/>
              <a:t>Difficulty accessing information </a:t>
            </a:r>
          </a:p>
          <a:p>
            <a:pPr lvl="0">
              <a:lnSpc>
                <a:spcPct val="70000"/>
              </a:lnSpc>
            </a:pPr>
            <a:r>
              <a:rPr lang="en-IN" sz="1600" dirty="0"/>
              <a:t>Limited integration between different data sources </a:t>
            </a:r>
          </a:p>
          <a:p>
            <a:pPr lvl="0">
              <a:lnSpc>
                <a:spcPct val="70000"/>
              </a:lnSpc>
            </a:pPr>
            <a:r>
              <a:rPr lang="en-IN" sz="1600" dirty="0"/>
              <a:t>Challenges in performing efficient analysis </a:t>
            </a:r>
          </a:p>
          <a:p>
            <a:pPr marL="0" indent="0">
              <a:buNone/>
            </a:pPr>
            <a:r>
              <a:rPr lang="en-IN" sz="1600" dirty="0"/>
              <a:t>The Smart Campus Data Hub is proposed as a centralized data engineering platform that integrates these distributed sources into a common environment.</a:t>
            </a:r>
          </a:p>
        </p:txBody>
      </p:sp>
    </p:spTree>
    <p:extLst>
      <p:ext uri="{BB962C8B-B14F-4D97-AF65-F5344CB8AC3E}">
        <p14:creationId xmlns:p14="http://schemas.microsoft.com/office/powerpoint/2010/main" val="37053947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440</Words>
  <Application>Microsoft Office PowerPoint</Application>
  <PresentationFormat>Widescreen</PresentationFormat>
  <Paragraphs>37</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SMART CAMPUS DATA HUB</vt:lpstr>
      <vt:lpstr>Abstract</vt:lpstr>
      <vt:lpstr>Introduction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Sree Vaishnavi</dc:creator>
  <cp:lastModifiedBy>Sree Vaishnavi</cp:lastModifiedBy>
  <cp:revision>1</cp:revision>
  <dcterms:created xsi:type="dcterms:W3CDTF">2026-09-18T05:39:37Z</dcterms:created>
  <dcterms:modified xsi:type="dcterms:W3CDTF">2026-09-18T05:39:57Z</dcterms:modified>
</cp:coreProperties>
</file>