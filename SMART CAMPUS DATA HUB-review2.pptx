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5"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B91F30-9DE0-4F76-BC1B-255A3627BAB0}" v="3" dt="2026-09-18T05:42:18.6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ee Vaishnavi" userId="66e9376f958a72a4" providerId="LiveId" clId="{99CC7298-F46B-49A8-9888-57CC58B84A37}"/>
    <pc:docChg chg="addSld modSld">
      <pc:chgData name="Sree Vaishnavi" userId="66e9376f958a72a4" providerId="LiveId" clId="{99CC7298-F46B-49A8-9888-57CC58B84A37}" dt="2026-09-18T05:42:18.689" v="2"/>
      <pc:docMkLst>
        <pc:docMk/>
      </pc:docMkLst>
      <pc:sldChg chg="add">
        <pc:chgData name="Sree Vaishnavi" userId="66e9376f958a72a4" providerId="LiveId" clId="{99CC7298-F46B-49A8-9888-57CC58B84A37}" dt="2026-09-18T05:41:50.991" v="0"/>
        <pc:sldMkLst>
          <pc:docMk/>
          <pc:sldMk cId="3286008366" sldId="260"/>
        </pc:sldMkLst>
      </pc:sldChg>
      <pc:sldChg chg="add">
        <pc:chgData name="Sree Vaishnavi" userId="66e9376f958a72a4" providerId="LiveId" clId="{99CC7298-F46B-49A8-9888-57CC58B84A37}" dt="2026-09-18T05:42:18.689" v="2"/>
        <pc:sldMkLst>
          <pc:docMk/>
          <pc:sldMk cId="1637170300" sldId="261"/>
        </pc:sldMkLst>
      </pc:sldChg>
      <pc:sldChg chg="add">
        <pc:chgData name="Sree Vaishnavi" userId="66e9376f958a72a4" providerId="LiveId" clId="{99CC7298-F46B-49A8-9888-57CC58B84A37}" dt="2026-09-18T05:42:02.257" v="1"/>
        <pc:sldMkLst>
          <pc:docMk/>
          <pc:sldMk cId="3376264189" sldId="26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7E4D6-C55A-BB7A-3E3D-E01E76A358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C074C99-7D5B-D3C0-A8D7-94338E9E5D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5462422-A3CA-01F3-8B67-A63D9E02D40F}"/>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5" name="Footer Placeholder 4">
            <a:extLst>
              <a:ext uri="{FF2B5EF4-FFF2-40B4-BE49-F238E27FC236}">
                <a16:creationId xmlns:a16="http://schemas.microsoft.com/office/drawing/2014/main" id="{5980520B-707A-4B29-1302-EF17F11D7F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BDC876-96DA-FFFE-0710-55AB07D01A43}"/>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2692509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E9260-5BDD-0415-B3A4-A3816134FBF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0EA489-4BED-5F73-253D-1906D7F1F3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93F753-BF79-6DB1-E207-127A4D09FC7D}"/>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5" name="Footer Placeholder 4">
            <a:extLst>
              <a:ext uri="{FF2B5EF4-FFF2-40B4-BE49-F238E27FC236}">
                <a16:creationId xmlns:a16="http://schemas.microsoft.com/office/drawing/2014/main" id="{65B8950E-7CA8-0935-510D-24BD2CAEC4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AE9E6D-9CAE-31A3-0FB7-BD6830A20A93}"/>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3401451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53CE8-0F66-8C09-5DA7-A1926D4FDF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D4D35BB-934F-9D29-B99D-D9BD203931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613AEB-3426-E496-76F7-8045F867882E}"/>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5" name="Footer Placeholder 4">
            <a:extLst>
              <a:ext uri="{FF2B5EF4-FFF2-40B4-BE49-F238E27FC236}">
                <a16:creationId xmlns:a16="http://schemas.microsoft.com/office/drawing/2014/main" id="{E29B25E7-D7E9-55FE-E5AA-4500A87169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36745F-C966-574A-F4EF-5066BBE54B3B}"/>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2923338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12266-568A-8332-416B-83ADBDB07C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2E5103-1C0C-F076-97B1-A370A7FAFA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E09FFDF-18E6-0093-2833-43BFE49C59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798B59D-86AA-6BD0-4CC7-67A487E801FD}"/>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6" name="Footer Placeholder 5">
            <a:extLst>
              <a:ext uri="{FF2B5EF4-FFF2-40B4-BE49-F238E27FC236}">
                <a16:creationId xmlns:a16="http://schemas.microsoft.com/office/drawing/2014/main" id="{FB417447-3B05-E6FC-0099-15A1180F02F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CCF905-5EB2-0EA8-9670-793507F4506F}"/>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1285423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482E8-12DA-6EE4-7CE1-DC94E7EB609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7AD99D-3328-D2B0-6C9C-9C9B188F64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291282-895E-ED08-9421-D929194CB66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DD9A980-9C1A-D76A-B3BC-C90948D7CC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4C396A-777B-8312-5B55-298229BE40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1B96226-56AD-B22C-9764-DA4F73B4B59C}"/>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8" name="Footer Placeholder 7">
            <a:extLst>
              <a:ext uri="{FF2B5EF4-FFF2-40B4-BE49-F238E27FC236}">
                <a16:creationId xmlns:a16="http://schemas.microsoft.com/office/drawing/2014/main" id="{220BFEC6-F3D5-9AC2-54DD-B6F1372B470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4172807-4C55-3399-B94E-A3AA1D368FA8}"/>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828999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BBEE7-A495-7919-E50C-A7519F289F4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1072767-07DB-C6EC-F657-1264164D0862}"/>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4" name="Footer Placeholder 3">
            <a:extLst>
              <a:ext uri="{FF2B5EF4-FFF2-40B4-BE49-F238E27FC236}">
                <a16:creationId xmlns:a16="http://schemas.microsoft.com/office/drawing/2014/main" id="{54958EBA-203F-7D26-DDD8-3974D78F9D7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DEEE863-C3A7-48C7-ECFB-FAFFFC01DB40}"/>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130396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E318C0-CABD-AD31-B424-C8E0CA0A39ED}"/>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3" name="Footer Placeholder 2">
            <a:extLst>
              <a:ext uri="{FF2B5EF4-FFF2-40B4-BE49-F238E27FC236}">
                <a16:creationId xmlns:a16="http://schemas.microsoft.com/office/drawing/2014/main" id="{983BF107-7504-0BC8-71CC-7B7ADDFF938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A1C6871-50D4-A563-1CC5-60FCBF6862D8}"/>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1307763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E52E2-B497-8598-77CE-6508BAA814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88FCC44-2C4B-9FB9-EA68-B7CC7CEC96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8B39A59-9671-75BB-C623-078F2807CC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4B2C4F-BA72-E4AB-DE73-AB897E6C1677}"/>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6" name="Footer Placeholder 5">
            <a:extLst>
              <a:ext uri="{FF2B5EF4-FFF2-40B4-BE49-F238E27FC236}">
                <a16:creationId xmlns:a16="http://schemas.microsoft.com/office/drawing/2014/main" id="{14D00328-12E5-37BC-FFE6-B51F92DAAC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AECD85-528C-906C-1941-97D57E594E13}"/>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728526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DB93D-256D-ECBB-E125-046C7DF732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A2A7D05-68E2-52D2-C2E0-5ABF678707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5C271E3-2B9E-1591-5E92-1C10E828B5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973B03-F25F-B4A7-99A8-7120977283F4}"/>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6" name="Footer Placeholder 5">
            <a:extLst>
              <a:ext uri="{FF2B5EF4-FFF2-40B4-BE49-F238E27FC236}">
                <a16:creationId xmlns:a16="http://schemas.microsoft.com/office/drawing/2014/main" id="{A61DC164-A2B0-0EBB-A1BA-C03CCE888B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BDE0FD-C3B5-F989-2E16-1A11E80A6B21}"/>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1407227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C42C6-9CDF-3248-680B-FE9ABC62CCD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5A9488-56D0-A64E-2FA7-E8C513BC52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D06EF0-0874-1669-AE5D-E146AA962E9B}"/>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5" name="Footer Placeholder 4">
            <a:extLst>
              <a:ext uri="{FF2B5EF4-FFF2-40B4-BE49-F238E27FC236}">
                <a16:creationId xmlns:a16="http://schemas.microsoft.com/office/drawing/2014/main" id="{42142CCB-083C-5ADA-B3D3-3BC8794053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E1FDD4-4679-159B-8F05-91F4BDB59630}"/>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2191999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250A0A-FAA4-B462-7290-F3E8077F7B5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BC6C21-0901-E16E-82A5-E91118061C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D5E00C-2E17-0768-2771-7726EB7F8608}"/>
              </a:ext>
            </a:extLst>
          </p:cNvPr>
          <p:cNvSpPr>
            <a:spLocks noGrp="1"/>
          </p:cNvSpPr>
          <p:nvPr>
            <p:ph type="dt" sz="half" idx="10"/>
          </p:nvPr>
        </p:nvSpPr>
        <p:spPr/>
        <p:txBody>
          <a:bodyPr/>
          <a:lstStyle/>
          <a:p>
            <a:fld id="{AC12B25A-CA81-40E4-926A-B6FAE1AB62BC}" type="datetimeFigureOut">
              <a:rPr lang="en-IN" smtClean="0"/>
              <a:t>18-09-2026</a:t>
            </a:fld>
            <a:endParaRPr lang="en-IN"/>
          </a:p>
        </p:txBody>
      </p:sp>
      <p:sp>
        <p:nvSpPr>
          <p:cNvPr id="5" name="Footer Placeholder 4">
            <a:extLst>
              <a:ext uri="{FF2B5EF4-FFF2-40B4-BE49-F238E27FC236}">
                <a16:creationId xmlns:a16="http://schemas.microsoft.com/office/drawing/2014/main" id="{776F98CB-B077-FFD2-5659-E9E7A9AB32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ED6A18-950F-DFA8-85B4-28289AC964D3}"/>
              </a:ext>
            </a:extLst>
          </p:cNvPr>
          <p:cNvSpPr>
            <a:spLocks noGrp="1"/>
          </p:cNvSpPr>
          <p:nvPr>
            <p:ph type="sldNum" sz="quarter" idx="12"/>
          </p:nvPr>
        </p:nvSpPr>
        <p:spPr/>
        <p:txBody>
          <a:bodyPr/>
          <a:lstStyle/>
          <a:p>
            <a:fld id="{FE0E25D5-0729-48FD-B783-60F3B31303E1}" type="slidenum">
              <a:rPr lang="en-IN" smtClean="0"/>
              <a:t>‹#›</a:t>
            </a:fld>
            <a:endParaRPr lang="en-IN"/>
          </a:p>
        </p:txBody>
      </p:sp>
    </p:spTree>
    <p:extLst>
      <p:ext uri="{BB962C8B-B14F-4D97-AF65-F5344CB8AC3E}">
        <p14:creationId xmlns:p14="http://schemas.microsoft.com/office/powerpoint/2010/main" val="4376649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B2FD64-2838-BFF4-7AB2-C99C4E87AF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14674E-4A73-78ED-E16F-AD46FF61BA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2D2BC0-0A90-2A84-D8E2-B987A2896F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12B25A-CA81-40E4-926A-B6FAE1AB62BC}" type="datetimeFigureOut">
              <a:rPr lang="en-IN" smtClean="0"/>
              <a:t>18-09-2026</a:t>
            </a:fld>
            <a:endParaRPr lang="en-IN"/>
          </a:p>
        </p:txBody>
      </p:sp>
      <p:sp>
        <p:nvSpPr>
          <p:cNvPr id="5" name="Footer Placeholder 4">
            <a:extLst>
              <a:ext uri="{FF2B5EF4-FFF2-40B4-BE49-F238E27FC236}">
                <a16:creationId xmlns:a16="http://schemas.microsoft.com/office/drawing/2014/main" id="{0E40FD81-62D9-3496-C5B7-7BED3C8019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0077B15-9862-39EF-1C53-E018A21E2E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0E25D5-0729-48FD-B783-60F3B31303E1}" type="slidenum">
              <a:rPr lang="en-IN" smtClean="0"/>
              <a:t>‹#›</a:t>
            </a:fld>
            <a:endParaRPr lang="en-IN"/>
          </a:p>
        </p:txBody>
      </p:sp>
    </p:spTree>
    <p:extLst>
      <p:ext uri="{BB962C8B-B14F-4D97-AF65-F5344CB8AC3E}">
        <p14:creationId xmlns:p14="http://schemas.microsoft.com/office/powerpoint/2010/main" val="3375450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oi.org/10.3390/app10010320" TargetMode="External"/><Relationship Id="rId2" Type="http://schemas.openxmlformats.org/officeDocument/2006/relationships/hyperlink" Target="https://doi.org/10.3390/s20082149" TargetMode="External"/><Relationship Id="rId1" Type="http://schemas.openxmlformats.org/officeDocument/2006/relationships/slideLayout" Target="../slideLayouts/slideLayout2.xml"/><Relationship Id="rId6" Type="http://schemas.openxmlformats.org/officeDocument/2006/relationships/hyperlink" Target="https://doi.org/10.3390/buildings13040891" TargetMode="External"/><Relationship Id="rId5" Type="http://schemas.openxmlformats.org/officeDocument/2006/relationships/hyperlink" Target="https://doi.org/10.1016/j.procs.2022.05.123" TargetMode="External"/><Relationship Id="rId4" Type="http://schemas.openxmlformats.org/officeDocument/2006/relationships/hyperlink" Target="https://doi.org/10.1109/ICICS50911.2021.9392921"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E9228-463B-3425-006D-6927D6B2DE1F}"/>
              </a:ext>
            </a:extLst>
          </p:cNvPr>
          <p:cNvSpPr>
            <a:spLocks noGrp="1"/>
          </p:cNvSpPr>
          <p:nvPr>
            <p:ph type="ctrTitle"/>
          </p:nvPr>
        </p:nvSpPr>
        <p:spPr>
          <a:xfrm>
            <a:off x="1524000" y="13264"/>
            <a:ext cx="9144000" cy="1002890"/>
          </a:xfrm>
        </p:spPr>
        <p:txBody>
          <a:bodyPr>
            <a:normAutofit/>
          </a:bodyPr>
          <a:lstStyle/>
          <a:p>
            <a:r>
              <a:rPr lang="en-IN" sz="3600" dirty="0">
                <a:latin typeface="+mn-lt"/>
              </a:rPr>
              <a:t>SMART CAMPUS DATA HUB</a:t>
            </a:r>
          </a:p>
        </p:txBody>
      </p:sp>
      <p:sp>
        <p:nvSpPr>
          <p:cNvPr id="3" name="Subtitle 2">
            <a:extLst>
              <a:ext uri="{FF2B5EF4-FFF2-40B4-BE49-F238E27FC236}">
                <a16:creationId xmlns:a16="http://schemas.microsoft.com/office/drawing/2014/main" id="{A92D9D14-A53C-7555-DB51-95FA039C32E5}"/>
              </a:ext>
            </a:extLst>
          </p:cNvPr>
          <p:cNvSpPr>
            <a:spLocks noGrp="1"/>
          </p:cNvSpPr>
          <p:nvPr>
            <p:ph type="subTitle" idx="1"/>
          </p:nvPr>
        </p:nvSpPr>
        <p:spPr>
          <a:xfrm>
            <a:off x="1524000" y="1297858"/>
            <a:ext cx="9144000" cy="4070555"/>
          </a:xfrm>
        </p:spPr>
        <p:txBody>
          <a:bodyPr>
            <a:normAutofit/>
          </a:bodyPr>
          <a:lstStyle/>
          <a:p>
            <a:pPr>
              <a:lnSpc>
                <a:spcPct val="75000"/>
              </a:lnSpc>
            </a:pPr>
            <a:r>
              <a:rPr lang="en-IN" b="1" dirty="0"/>
              <a:t>REVIEW - 2</a:t>
            </a:r>
          </a:p>
          <a:p>
            <a:pPr>
              <a:lnSpc>
                <a:spcPct val="75000"/>
              </a:lnSpc>
            </a:pPr>
            <a:r>
              <a:rPr lang="en-IN" b="1" dirty="0"/>
              <a:t>Team Number-11</a:t>
            </a:r>
          </a:p>
          <a:p>
            <a:pPr>
              <a:lnSpc>
                <a:spcPct val="75000"/>
              </a:lnSpc>
            </a:pPr>
            <a:r>
              <a:rPr lang="en-IN" b="1" dirty="0"/>
              <a:t>Name                              Roll No.</a:t>
            </a:r>
          </a:p>
          <a:p>
            <a:pPr>
              <a:lnSpc>
                <a:spcPct val="75000"/>
              </a:lnSpc>
            </a:pPr>
            <a:r>
              <a:rPr lang="en-IN" dirty="0"/>
              <a:t>D </a:t>
            </a:r>
            <a:r>
              <a:rPr lang="en-IN" dirty="0" err="1"/>
              <a:t>Darishma</a:t>
            </a:r>
            <a:r>
              <a:rPr lang="en-IN" dirty="0"/>
              <a:t>                     2420030463</a:t>
            </a:r>
          </a:p>
          <a:p>
            <a:pPr>
              <a:lnSpc>
                <a:spcPct val="75000"/>
              </a:lnSpc>
            </a:pPr>
            <a:r>
              <a:rPr lang="en-IN" dirty="0"/>
              <a:t>TNV Sree Vaishnavi       2420030664</a:t>
            </a:r>
          </a:p>
          <a:p>
            <a:pPr>
              <a:lnSpc>
                <a:spcPct val="75000"/>
              </a:lnSpc>
            </a:pPr>
            <a:r>
              <a:rPr lang="en-IN" dirty="0"/>
              <a:t>Section - 4</a:t>
            </a:r>
          </a:p>
          <a:p>
            <a:pPr>
              <a:lnSpc>
                <a:spcPct val="75000"/>
              </a:lnSpc>
            </a:pPr>
            <a:r>
              <a:rPr lang="en-IN" dirty="0">
                <a:solidFill>
                  <a:srgbClr val="FF0000"/>
                </a:solidFill>
              </a:rPr>
              <a:t>Under the Guidance of </a:t>
            </a:r>
          </a:p>
          <a:p>
            <a:pPr>
              <a:lnSpc>
                <a:spcPct val="75000"/>
              </a:lnSpc>
            </a:pPr>
            <a:r>
              <a:rPr lang="en-IN" dirty="0">
                <a:solidFill>
                  <a:srgbClr val="FF0000"/>
                </a:solidFill>
              </a:rPr>
              <a:t> Dr. N Shirisha</a:t>
            </a:r>
          </a:p>
          <a:p>
            <a:pPr>
              <a:lnSpc>
                <a:spcPct val="75000"/>
              </a:lnSpc>
            </a:pPr>
            <a:r>
              <a:rPr lang="en-IN" dirty="0">
                <a:solidFill>
                  <a:srgbClr val="FF0000"/>
                </a:solidFill>
              </a:rPr>
              <a:t>Associate Professor </a:t>
            </a:r>
          </a:p>
          <a:p>
            <a:pPr>
              <a:lnSpc>
                <a:spcPct val="75000"/>
              </a:lnSpc>
            </a:pPr>
            <a:r>
              <a:rPr lang="en-IN" dirty="0">
                <a:solidFill>
                  <a:schemeClr val="accent5">
                    <a:lumMod val="75000"/>
                  </a:schemeClr>
                </a:solidFill>
              </a:rPr>
              <a:t>Department of Computer Science And Engineering </a:t>
            </a:r>
            <a:endParaRPr lang="en-IN" dirty="0"/>
          </a:p>
          <a:p>
            <a:pPr>
              <a:lnSpc>
                <a:spcPct val="75000"/>
              </a:lnSpc>
            </a:pPr>
            <a:endParaRPr lang="en-IN" dirty="0">
              <a:solidFill>
                <a:srgbClr val="FF0000"/>
              </a:solidFill>
            </a:endParaRPr>
          </a:p>
          <a:p>
            <a:pPr>
              <a:lnSpc>
                <a:spcPct val="75000"/>
              </a:lnSpc>
            </a:pPr>
            <a:endParaRPr lang="en-IN" dirty="0"/>
          </a:p>
          <a:p>
            <a:pPr>
              <a:lnSpc>
                <a:spcPct val="75000"/>
              </a:lnSpc>
            </a:pPr>
            <a:endParaRPr lang="en-IN" dirty="0"/>
          </a:p>
        </p:txBody>
      </p:sp>
      <p:pic>
        <p:nvPicPr>
          <p:cNvPr id="4" name="Picture 3" descr="MAPS &amp; DIRECTIONS - Best Private University in Telangana ...">
            <a:extLst>
              <a:ext uri="{FF2B5EF4-FFF2-40B4-BE49-F238E27FC236}">
                <a16:creationId xmlns:a16="http://schemas.microsoft.com/office/drawing/2014/main" id="{11A1FAB5-1FB8-EA99-940C-5BDF6A9A910E}"/>
              </a:ext>
            </a:extLst>
          </p:cNvPr>
          <p:cNvPicPr>
            <a:picLocks noChangeAspect="1"/>
          </p:cNvPicPr>
          <p:nvPr/>
        </p:nvPicPr>
        <p:blipFill>
          <a:blip r:embed="rId2"/>
          <a:stretch>
            <a:fillRect/>
          </a:stretch>
        </p:blipFill>
        <p:spPr>
          <a:xfrm>
            <a:off x="79272" y="13264"/>
            <a:ext cx="2063387" cy="1166607"/>
          </a:xfrm>
          <a:prstGeom prst="rect">
            <a:avLst/>
          </a:prstGeom>
        </p:spPr>
      </p:pic>
      <p:pic>
        <p:nvPicPr>
          <p:cNvPr id="5" name="Picture 4" descr="MAPS &amp; DIRECTIONS - Best Private University in Telangana ...">
            <a:extLst>
              <a:ext uri="{FF2B5EF4-FFF2-40B4-BE49-F238E27FC236}">
                <a16:creationId xmlns:a16="http://schemas.microsoft.com/office/drawing/2014/main" id="{55B89551-0077-37F5-92ED-13F4B98FC6C0}"/>
              </a:ext>
            </a:extLst>
          </p:cNvPr>
          <p:cNvPicPr>
            <a:picLocks noChangeAspect="1"/>
          </p:cNvPicPr>
          <p:nvPr/>
        </p:nvPicPr>
        <p:blipFill>
          <a:blip r:embed="rId2"/>
          <a:stretch>
            <a:fillRect/>
          </a:stretch>
        </p:blipFill>
        <p:spPr>
          <a:xfrm>
            <a:off x="4857750" y="5297589"/>
            <a:ext cx="2476500" cy="1400175"/>
          </a:xfrm>
          <a:prstGeom prst="rect">
            <a:avLst/>
          </a:prstGeom>
        </p:spPr>
      </p:pic>
    </p:spTree>
    <p:extLst>
      <p:ext uri="{BB962C8B-B14F-4D97-AF65-F5344CB8AC3E}">
        <p14:creationId xmlns:p14="http://schemas.microsoft.com/office/powerpoint/2010/main" val="2270645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4D85F-F0E9-50A6-6561-E1642D60044F}"/>
              </a:ext>
            </a:extLst>
          </p:cNvPr>
          <p:cNvSpPr>
            <a:spLocks noGrp="1"/>
          </p:cNvSpPr>
          <p:nvPr>
            <p:ph type="title"/>
          </p:nvPr>
        </p:nvSpPr>
        <p:spPr>
          <a:xfrm>
            <a:off x="838200" y="151427"/>
            <a:ext cx="10515600" cy="529610"/>
          </a:xfrm>
        </p:spPr>
        <p:txBody>
          <a:bodyPr>
            <a:noAutofit/>
          </a:bodyPr>
          <a:lstStyle/>
          <a:p>
            <a:pPr algn="ctr"/>
            <a:r>
              <a:rPr lang="en-IN" sz="2800" b="1" dirty="0">
                <a:latin typeface="+mn-lt"/>
              </a:rPr>
              <a:t>Abstract</a:t>
            </a:r>
          </a:p>
        </p:txBody>
      </p:sp>
      <p:sp>
        <p:nvSpPr>
          <p:cNvPr id="3" name="Content Placeholder 2">
            <a:extLst>
              <a:ext uri="{FF2B5EF4-FFF2-40B4-BE49-F238E27FC236}">
                <a16:creationId xmlns:a16="http://schemas.microsoft.com/office/drawing/2014/main" id="{5F5DF106-91CA-5064-CB77-7E31F8CDD50C}"/>
              </a:ext>
            </a:extLst>
          </p:cNvPr>
          <p:cNvSpPr>
            <a:spLocks noGrp="1"/>
          </p:cNvSpPr>
          <p:nvPr>
            <p:ph idx="1"/>
          </p:nvPr>
        </p:nvSpPr>
        <p:spPr>
          <a:xfrm>
            <a:off x="838200" y="813439"/>
            <a:ext cx="10515600" cy="5231121"/>
          </a:xfrm>
        </p:spPr>
        <p:txBody>
          <a:bodyPr>
            <a:noAutofit/>
          </a:bodyPr>
          <a:lstStyle/>
          <a:p>
            <a:pPr algn="just"/>
            <a:r>
              <a:rPr lang="en-IN" sz="1600" dirty="0"/>
              <a:t>The Smart Campus Data Hub is a centralized data engineering platform designed to collect, integrate, process, validate, and organize data generated across different campus activities. This includes student records, attendance, academic performance, events, transportation, facilities, and other campus services. When these datasets are maintained separately across applications, databases, and spreadsheets, it becomes difficult to obtain consistent and reliable information for analysis and decision-making.</a:t>
            </a:r>
          </a:p>
          <a:p>
            <a:pPr algn="just"/>
            <a:r>
              <a:rPr lang="en-IN" sz="1600" dirty="0"/>
              <a:t>The proposed project addresses this data fragmentation by establishing a unified infrastructure that brings heterogeneous campus data into a structured and accessible environment. The system follows a systematic workflow beginning with multi-source data ingestion, where raw data is collected and converted into compatible formats.</a:t>
            </a:r>
          </a:p>
          <a:p>
            <a:pPr algn="just"/>
            <a:r>
              <a:rPr lang="en-IN" sz="1600" dirty="0"/>
              <a:t>Data preprocessing and cleaning are performed to handle missing values, duplicate records, inconsistent formats, and invalid information. After validation, the data is transformed, standardized, and organized into structured datasets before being stored in a centralized data warehouse or analytical database.</a:t>
            </a:r>
          </a:p>
          <a:p>
            <a:pPr algn="just"/>
            <a:r>
              <a:rPr lang="en-IN" sz="1600" dirty="0"/>
              <a:t>The platform demonstrates important data engineering concepts such as ETL/ELT processing, data integration, transformation, data quality management, centralized storage, aggregation, and analytical querying. The processed data can be accessed through controlled interfaces and used for dashboards, reports, and analytical applications.</a:t>
            </a:r>
          </a:p>
          <a:p>
            <a:pPr algn="just"/>
            <a:r>
              <a:rPr lang="en-IN" sz="1600" dirty="0"/>
              <a:t>The platform also provides a scalable foundation for future enhancements, including real-time data streaming, cloud-based processing, automated quality monitoring, machine learning pipelines, predictive analytics, and IoT data integration.</a:t>
            </a:r>
          </a:p>
          <a:p>
            <a:pPr algn="just"/>
            <a:r>
              <a:rPr lang="en-IN" sz="1600" dirty="0"/>
              <a:t>Overall, the Smart Campus Data Hub transforms fragmented campus information into reliable, organized, and analysis-ready data, enabling efficient reporting and supporting data-driven decision-making across the campus. </a:t>
            </a:r>
          </a:p>
        </p:txBody>
      </p:sp>
    </p:spTree>
    <p:extLst>
      <p:ext uri="{BB962C8B-B14F-4D97-AF65-F5344CB8AC3E}">
        <p14:creationId xmlns:p14="http://schemas.microsoft.com/office/powerpoint/2010/main" val="279791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3C145-CE7D-29F1-EDEE-D1720FB82E8B}"/>
              </a:ext>
            </a:extLst>
          </p:cNvPr>
          <p:cNvSpPr>
            <a:spLocks noGrp="1"/>
          </p:cNvSpPr>
          <p:nvPr>
            <p:ph type="title"/>
          </p:nvPr>
        </p:nvSpPr>
        <p:spPr>
          <a:xfrm>
            <a:off x="838200" y="13775"/>
            <a:ext cx="10515600" cy="667262"/>
          </a:xfrm>
        </p:spPr>
        <p:txBody>
          <a:bodyPr>
            <a:normAutofit/>
          </a:bodyPr>
          <a:lstStyle/>
          <a:p>
            <a:pPr algn="ctr"/>
            <a:r>
              <a:rPr lang="en-IN" sz="2800" b="1" dirty="0">
                <a:latin typeface="+mn-lt"/>
              </a:rPr>
              <a:t>Introduction</a:t>
            </a:r>
          </a:p>
        </p:txBody>
      </p:sp>
      <p:sp>
        <p:nvSpPr>
          <p:cNvPr id="3" name="Content Placeholder 2">
            <a:extLst>
              <a:ext uri="{FF2B5EF4-FFF2-40B4-BE49-F238E27FC236}">
                <a16:creationId xmlns:a16="http://schemas.microsoft.com/office/drawing/2014/main" id="{C04824D2-5EC3-E2E7-A2BC-2B1BCF3BDDCE}"/>
              </a:ext>
            </a:extLst>
          </p:cNvPr>
          <p:cNvSpPr>
            <a:spLocks noGrp="1"/>
          </p:cNvSpPr>
          <p:nvPr>
            <p:ph idx="1"/>
          </p:nvPr>
        </p:nvSpPr>
        <p:spPr>
          <a:xfrm>
            <a:off x="838200" y="681037"/>
            <a:ext cx="10515600" cy="6004898"/>
          </a:xfrm>
        </p:spPr>
        <p:txBody>
          <a:bodyPr>
            <a:noAutofit/>
          </a:bodyPr>
          <a:lstStyle/>
          <a:p>
            <a:pPr marL="0" indent="0">
              <a:buNone/>
            </a:pPr>
            <a:r>
              <a:rPr lang="en-IN" sz="1600" dirty="0"/>
              <a:t>Modern educational institutions generate large volumes of data through various campus activities and services. This includes information related to:</a:t>
            </a:r>
          </a:p>
          <a:p>
            <a:pPr lvl="0">
              <a:lnSpc>
                <a:spcPct val="70000"/>
              </a:lnSpc>
            </a:pPr>
            <a:r>
              <a:rPr lang="en-IN" sz="1600" dirty="0"/>
              <a:t>Student records </a:t>
            </a:r>
          </a:p>
          <a:p>
            <a:pPr lvl="0">
              <a:lnSpc>
                <a:spcPct val="70000"/>
              </a:lnSpc>
            </a:pPr>
            <a:r>
              <a:rPr lang="en-IN" sz="1600" dirty="0"/>
              <a:t>Attendance </a:t>
            </a:r>
          </a:p>
          <a:p>
            <a:pPr lvl="0">
              <a:lnSpc>
                <a:spcPct val="70000"/>
              </a:lnSpc>
            </a:pPr>
            <a:r>
              <a:rPr lang="en-IN" sz="1600" dirty="0"/>
              <a:t>Academic performance </a:t>
            </a:r>
          </a:p>
          <a:p>
            <a:pPr lvl="0">
              <a:lnSpc>
                <a:spcPct val="70000"/>
              </a:lnSpc>
            </a:pPr>
            <a:r>
              <a:rPr lang="en-IN" sz="1600" dirty="0"/>
              <a:t>Campus events </a:t>
            </a:r>
          </a:p>
          <a:p>
            <a:pPr lvl="0">
              <a:lnSpc>
                <a:spcPct val="70000"/>
              </a:lnSpc>
            </a:pPr>
            <a:r>
              <a:rPr lang="en-IN" sz="1600" dirty="0"/>
              <a:t>Transportation </a:t>
            </a:r>
          </a:p>
          <a:p>
            <a:pPr lvl="0">
              <a:lnSpc>
                <a:spcPct val="70000"/>
              </a:lnSpc>
            </a:pPr>
            <a:r>
              <a:rPr lang="en-IN" sz="1600" dirty="0"/>
              <a:t>Facilities and services </a:t>
            </a:r>
          </a:p>
          <a:p>
            <a:pPr lvl="0">
              <a:lnSpc>
                <a:spcPct val="70000"/>
              </a:lnSpc>
            </a:pPr>
            <a:r>
              <a:rPr lang="en-IN" sz="1600" dirty="0"/>
              <a:t>Other campus applications and platforms </a:t>
            </a:r>
          </a:p>
          <a:p>
            <a:pPr marL="0" indent="0">
              <a:lnSpc>
                <a:spcPct val="70000"/>
              </a:lnSpc>
              <a:buNone/>
            </a:pPr>
            <a:r>
              <a:rPr lang="en-IN" sz="1600" dirty="0"/>
              <a:t>However, this information is often stored across multiple applications, databases, spreadsheets, and service platforms.</a:t>
            </a:r>
          </a:p>
          <a:p>
            <a:pPr marL="0" indent="0">
              <a:lnSpc>
                <a:spcPct val="70000"/>
              </a:lnSpc>
              <a:buNone/>
            </a:pPr>
            <a:r>
              <a:rPr lang="en-IN" sz="1600" dirty="0"/>
              <a:t>This creates challenges such as:</a:t>
            </a:r>
          </a:p>
          <a:p>
            <a:pPr lvl="0">
              <a:lnSpc>
                <a:spcPct val="70000"/>
              </a:lnSpc>
            </a:pPr>
            <a:r>
              <a:rPr lang="en-IN" sz="1600" dirty="0"/>
              <a:t>Data duplication </a:t>
            </a:r>
          </a:p>
          <a:p>
            <a:pPr lvl="0">
              <a:lnSpc>
                <a:spcPct val="70000"/>
              </a:lnSpc>
            </a:pPr>
            <a:r>
              <a:rPr lang="en-IN" sz="1600" dirty="0"/>
              <a:t>Inconsistent data formats </a:t>
            </a:r>
          </a:p>
          <a:p>
            <a:pPr lvl="0">
              <a:lnSpc>
                <a:spcPct val="70000"/>
              </a:lnSpc>
            </a:pPr>
            <a:r>
              <a:rPr lang="en-IN" sz="1600" dirty="0"/>
              <a:t>Incomplete records </a:t>
            </a:r>
          </a:p>
          <a:p>
            <a:pPr lvl="0">
              <a:lnSpc>
                <a:spcPct val="70000"/>
              </a:lnSpc>
            </a:pPr>
            <a:r>
              <a:rPr lang="en-IN" sz="1600" dirty="0"/>
              <a:t>Difficulty accessing information </a:t>
            </a:r>
          </a:p>
          <a:p>
            <a:pPr lvl="0">
              <a:lnSpc>
                <a:spcPct val="70000"/>
              </a:lnSpc>
            </a:pPr>
            <a:r>
              <a:rPr lang="en-IN" sz="1600" dirty="0"/>
              <a:t>Limited integration between different data sources </a:t>
            </a:r>
          </a:p>
          <a:p>
            <a:pPr lvl="0">
              <a:lnSpc>
                <a:spcPct val="70000"/>
              </a:lnSpc>
            </a:pPr>
            <a:r>
              <a:rPr lang="en-IN" sz="1600" dirty="0"/>
              <a:t>Challenges in performing efficient analysis </a:t>
            </a:r>
          </a:p>
          <a:p>
            <a:pPr marL="0" indent="0">
              <a:buNone/>
            </a:pPr>
            <a:r>
              <a:rPr lang="en-IN" sz="1600" dirty="0"/>
              <a:t>The Smart Campus Data Hub is proposed as a centralized data engineering platform that integrates these distributed sources into a common environment.</a:t>
            </a:r>
          </a:p>
        </p:txBody>
      </p:sp>
    </p:spTree>
    <p:extLst>
      <p:ext uri="{BB962C8B-B14F-4D97-AF65-F5344CB8AC3E}">
        <p14:creationId xmlns:p14="http://schemas.microsoft.com/office/powerpoint/2010/main" val="3705394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7608D-BF22-4AF3-1958-25CD33CB6956}"/>
              </a:ext>
            </a:extLst>
          </p:cNvPr>
          <p:cNvSpPr>
            <a:spLocks noGrp="1"/>
          </p:cNvSpPr>
          <p:nvPr>
            <p:ph type="title"/>
          </p:nvPr>
        </p:nvSpPr>
        <p:spPr>
          <a:xfrm>
            <a:off x="838200" y="171091"/>
            <a:ext cx="10515600" cy="509946"/>
          </a:xfrm>
        </p:spPr>
        <p:txBody>
          <a:bodyPr>
            <a:noAutofit/>
          </a:bodyPr>
          <a:lstStyle/>
          <a:p>
            <a:pPr algn="ctr"/>
            <a:r>
              <a:rPr lang="en-IN" sz="2800" b="1" dirty="0">
                <a:latin typeface="+mn-lt"/>
              </a:rPr>
              <a:t>Project</a:t>
            </a:r>
            <a:r>
              <a:rPr lang="en-IN" sz="2800" dirty="0">
                <a:latin typeface="+mn-lt"/>
              </a:rPr>
              <a:t> </a:t>
            </a:r>
            <a:r>
              <a:rPr lang="en-IN" sz="2800" b="1" dirty="0">
                <a:latin typeface="+mn-lt"/>
              </a:rPr>
              <a:t>Objective</a:t>
            </a:r>
          </a:p>
        </p:txBody>
      </p:sp>
      <p:sp>
        <p:nvSpPr>
          <p:cNvPr id="3" name="Content Placeholder 2">
            <a:extLst>
              <a:ext uri="{FF2B5EF4-FFF2-40B4-BE49-F238E27FC236}">
                <a16:creationId xmlns:a16="http://schemas.microsoft.com/office/drawing/2014/main" id="{4E27BD7A-BE76-FFC6-1CAD-1DF52ABC01D8}"/>
              </a:ext>
            </a:extLst>
          </p:cNvPr>
          <p:cNvSpPr>
            <a:spLocks noGrp="1"/>
          </p:cNvSpPr>
          <p:nvPr>
            <p:ph idx="1"/>
          </p:nvPr>
        </p:nvSpPr>
        <p:spPr>
          <a:xfrm>
            <a:off x="838200" y="936676"/>
            <a:ext cx="10515600" cy="5495926"/>
          </a:xfrm>
        </p:spPr>
        <p:txBody>
          <a:bodyPr>
            <a:noAutofit/>
          </a:bodyPr>
          <a:lstStyle/>
          <a:p>
            <a:pPr lvl="0"/>
            <a:r>
              <a:rPr lang="en-IN" sz="1800" b="1" dirty="0"/>
              <a:t>To collect</a:t>
            </a:r>
            <a:r>
              <a:rPr lang="en-IN" sz="1800" dirty="0"/>
              <a:t> student, attendance, event, transport, and other campus data from multiple sources. </a:t>
            </a:r>
          </a:p>
          <a:p>
            <a:pPr lvl="0"/>
            <a:r>
              <a:rPr lang="en-IN" sz="1800" b="1" dirty="0"/>
              <a:t>To ingest</a:t>
            </a:r>
            <a:r>
              <a:rPr lang="en-IN" sz="1800" dirty="0"/>
              <a:t> real-time and batch data efficiently using </a:t>
            </a:r>
            <a:r>
              <a:rPr lang="en-IN" sz="1800" b="1" dirty="0"/>
              <a:t>Apache Kafka and Redis</a:t>
            </a:r>
            <a:r>
              <a:rPr lang="en-IN" sz="1800" dirty="0"/>
              <a:t>. </a:t>
            </a:r>
          </a:p>
          <a:p>
            <a:pPr lvl="0"/>
            <a:r>
              <a:rPr lang="en-IN" sz="1800" b="1" dirty="0"/>
              <a:t>To store</a:t>
            </a:r>
            <a:r>
              <a:rPr lang="en-IN" sz="1800" dirty="0"/>
              <a:t> large volumes of campus data securely in </a:t>
            </a:r>
            <a:r>
              <a:rPr lang="en-IN" sz="1800" b="1" dirty="0"/>
              <a:t>Amazon S3 Data Lake</a:t>
            </a:r>
            <a:r>
              <a:rPr lang="en-IN" sz="1800" dirty="0"/>
              <a:t>. </a:t>
            </a:r>
          </a:p>
          <a:p>
            <a:pPr lvl="0"/>
            <a:r>
              <a:rPr lang="en-IN" sz="1800" b="1" dirty="0"/>
              <a:t>To process and transform</a:t>
            </a:r>
            <a:r>
              <a:rPr lang="en-IN" sz="1800" dirty="0"/>
              <a:t> raw data using </a:t>
            </a:r>
            <a:r>
              <a:rPr lang="en-IN" sz="1800" b="1" dirty="0"/>
              <a:t>Apache Spark</a:t>
            </a:r>
            <a:r>
              <a:rPr lang="en-IN" sz="1800" dirty="0"/>
              <a:t> for analysis. </a:t>
            </a:r>
          </a:p>
          <a:p>
            <a:pPr lvl="0"/>
            <a:r>
              <a:rPr lang="en-IN" sz="1800" b="1" dirty="0"/>
              <a:t>To store</a:t>
            </a:r>
            <a:r>
              <a:rPr lang="en-IN" sz="1800" dirty="0"/>
              <a:t> processed and structured data in </a:t>
            </a:r>
            <a:r>
              <a:rPr lang="en-IN" sz="1800" b="1" dirty="0"/>
              <a:t>Amazon Redshift Data Warehouse</a:t>
            </a:r>
            <a:r>
              <a:rPr lang="en-IN" sz="1800" dirty="0"/>
              <a:t>. </a:t>
            </a:r>
          </a:p>
          <a:p>
            <a:pPr lvl="0"/>
            <a:r>
              <a:rPr lang="en-IN" sz="1800" b="1" dirty="0"/>
              <a:t>To provide</a:t>
            </a:r>
            <a:r>
              <a:rPr lang="en-IN" sz="1800" dirty="0"/>
              <a:t> a centralized </a:t>
            </a:r>
            <a:r>
              <a:rPr lang="en-IN" sz="1800" b="1" dirty="0"/>
              <a:t>campus dashboard</a:t>
            </a:r>
            <a:r>
              <a:rPr lang="en-IN" sz="1800" dirty="0"/>
              <a:t> for analytics and reports. </a:t>
            </a:r>
          </a:p>
          <a:p>
            <a:pPr lvl="0"/>
            <a:r>
              <a:rPr lang="en-IN" sz="1800" b="1" dirty="0"/>
              <a:t>To enable</a:t>
            </a:r>
            <a:r>
              <a:rPr lang="en-IN" sz="1800" dirty="0"/>
              <a:t> data-driven decision-making for college departments and administrators. </a:t>
            </a:r>
          </a:p>
          <a:p>
            <a:pPr lvl="0"/>
            <a:r>
              <a:rPr lang="en-IN" sz="1800" b="1" dirty="0"/>
              <a:t>To build</a:t>
            </a:r>
            <a:r>
              <a:rPr lang="en-IN" sz="1800" dirty="0"/>
              <a:t> a scalable and reliable data architecture that can handle growing campus data.</a:t>
            </a:r>
          </a:p>
        </p:txBody>
      </p:sp>
    </p:spTree>
    <p:extLst>
      <p:ext uri="{BB962C8B-B14F-4D97-AF65-F5344CB8AC3E}">
        <p14:creationId xmlns:p14="http://schemas.microsoft.com/office/powerpoint/2010/main" val="3286008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6509A76A-8127-C958-AF0A-48AE106D775E}"/>
              </a:ext>
            </a:extLst>
          </p:cNvPr>
          <p:cNvGraphicFramePr>
            <a:graphicFrameLocks noGrp="1"/>
          </p:cNvGraphicFramePr>
          <p:nvPr/>
        </p:nvGraphicFramePr>
        <p:xfrm>
          <a:off x="363794" y="993057"/>
          <a:ext cx="11464411" cy="4925961"/>
        </p:xfrm>
        <a:graphic>
          <a:graphicData uri="http://schemas.openxmlformats.org/drawingml/2006/table">
            <a:tbl>
              <a:tblPr>
                <a:tableStyleId>{5C22544A-7EE6-4342-B048-85BDC9FD1C3A}</a:tableStyleId>
              </a:tblPr>
              <a:tblGrid>
                <a:gridCol w="1637773">
                  <a:extLst>
                    <a:ext uri="{9D8B030D-6E8A-4147-A177-3AD203B41FA5}">
                      <a16:colId xmlns:a16="http://schemas.microsoft.com/office/drawing/2014/main" val="700365496"/>
                    </a:ext>
                  </a:extLst>
                </a:gridCol>
                <a:gridCol w="1637773">
                  <a:extLst>
                    <a:ext uri="{9D8B030D-6E8A-4147-A177-3AD203B41FA5}">
                      <a16:colId xmlns:a16="http://schemas.microsoft.com/office/drawing/2014/main" val="3105823374"/>
                    </a:ext>
                  </a:extLst>
                </a:gridCol>
                <a:gridCol w="1637773">
                  <a:extLst>
                    <a:ext uri="{9D8B030D-6E8A-4147-A177-3AD203B41FA5}">
                      <a16:colId xmlns:a16="http://schemas.microsoft.com/office/drawing/2014/main" val="3403110693"/>
                    </a:ext>
                  </a:extLst>
                </a:gridCol>
                <a:gridCol w="1637773">
                  <a:extLst>
                    <a:ext uri="{9D8B030D-6E8A-4147-A177-3AD203B41FA5}">
                      <a16:colId xmlns:a16="http://schemas.microsoft.com/office/drawing/2014/main" val="2278738684"/>
                    </a:ext>
                  </a:extLst>
                </a:gridCol>
                <a:gridCol w="1637773">
                  <a:extLst>
                    <a:ext uri="{9D8B030D-6E8A-4147-A177-3AD203B41FA5}">
                      <a16:colId xmlns:a16="http://schemas.microsoft.com/office/drawing/2014/main" val="3182278863"/>
                    </a:ext>
                  </a:extLst>
                </a:gridCol>
                <a:gridCol w="1637773">
                  <a:extLst>
                    <a:ext uri="{9D8B030D-6E8A-4147-A177-3AD203B41FA5}">
                      <a16:colId xmlns:a16="http://schemas.microsoft.com/office/drawing/2014/main" val="382883562"/>
                    </a:ext>
                  </a:extLst>
                </a:gridCol>
                <a:gridCol w="1637773">
                  <a:extLst>
                    <a:ext uri="{9D8B030D-6E8A-4147-A177-3AD203B41FA5}">
                      <a16:colId xmlns:a16="http://schemas.microsoft.com/office/drawing/2014/main" val="1018929446"/>
                    </a:ext>
                  </a:extLst>
                </a:gridCol>
              </a:tblGrid>
              <a:tr h="288068">
                <a:tc>
                  <a:txBody>
                    <a:bodyPr/>
                    <a:lstStyle/>
                    <a:p>
                      <a:pPr>
                        <a:buNone/>
                      </a:pPr>
                      <a:r>
                        <a:rPr lang="en-IN" sz="1200"/>
                        <a:t>No.</a:t>
                      </a:r>
                    </a:p>
                  </a:txBody>
                  <a:tcPr marL="18270" marR="18270" marT="9135" marB="9135" anchor="ctr"/>
                </a:tc>
                <a:tc>
                  <a:txBody>
                    <a:bodyPr/>
                    <a:lstStyle/>
                    <a:p>
                      <a:pPr>
                        <a:buNone/>
                      </a:pPr>
                      <a:r>
                        <a:rPr lang="en-IN" sz="1200"/>
                        <a:t>Paper Title (Year)</a:t>
                      </a:r>
                    </a:p>
                  </a:txBody>
                  <a:tcPr marL="18270" marR="18270" marT="9135" marB="9135" anchor="ctr"/>
                </a:tc>
                <a:tc>
                  <a:txBody>
                    <a:bodyPr/>
                    <a:lstStyle/>
                    <a:p>
                      <a:pPr>
                        <a:buNone/>
                      </a:pPr>
                      <a:r>
                        <a:rPr lang="en-IN" sz="1200"/>
                        <a:t>Authors</a:t>
                      </a:r>
                    </a:p>
                  </a:txBody>
                  <a:tcPr marL="18270" marR="18270" marT="9135" marB="9135" anchor="ctr"/>
                </a:tc>
                <a:tc>
                  <a:txBody>
                    <a:bodyPr/>
                    <a:lstStyle/>
                    <a:p>
                      <a:pPr>
                        <a:buNone/>
                      </a:pPr>
                      <a:r>
                        <a:rPr lang="en-IN" sz="1200"/>
                        <a:t>Key Contribution</a:t>
                      </a:r>
                    </a:p>
                  </a:txBody>
                  <a:tcPr marL="18270" marR="18270" marT="9135" marB="9135" anchor="ctr"/>
                </a:tc>
                <a:tc>
                  <a:txBody>
                    <a:bodyPr/>
                    <a:lstStyle/>
                    <a:p>
                      <a:pPr>
                        <a:buNone/>
                      </a:pPr>
                      <a:r>
                        <a:rPr lang="en-IN" sz="1200"/>
                        <a:t>Limitations</a:t>
                      </a:r>
                    </a:p>
                  </a:txBody>
                  <a:tcPr marL="18270" marR="18270" marT="9135" marB="9135" anchor="ctr"/>
                </a:tc>
                <a:tc>
                  <a:txBody>
                    <a:bodyPr/>
                    <a:lstStyle/>
                    <a:p>
                      <a:pPr>
                        <a:buNone/>
                      </a:pPr>
                      <a:r>
                        <a:rPr lang="en-IN" sz="1200"/>
                        <a:t>Future Scope</a:t>
                      </a:r>
                    </a:p>
                  </a:txBody>
                  <a:tcPr marL="18270" marR="18270" marT="9135" marB="9135" anchor="ctr"/>
                </a:tc>
                <a:tc>
                  <a:txBody>
                    <a:bodyPr/>
                    <a:lstStyle/>
                    <a:p>
                      <a:pPr>
                        <a:buNone/>
                      </a:pPr>
                      <a:r>
                        <a:rPr lang="en-IN" sz="1200"/>
                        <a:t>Link</a:t>
                      </a:r>
                    </a:p>
                  </a:txBody>
                  <a:tcPr marL="18270" marR="18270" marT="9135" marB="9135" anchor="ctr"/>
                </a:tc>
                <a:extLst>
                  <a:ext uri="{0D108BD9-81ED-4DB2-BD59-A6C34878D82A}">
                    <a16:rowId xmlns:a16="http://schemas.microsoft.com/office/drawing/2014/main" val="1622507524"/>
                  </a:ext>
                </a:extLst>
              </a:tr>
              <a:tr h="979431">
                <a:tc>
                  <a:txBody>
                    <a:bodyPr/>
                    <a:lstStyle/>
                    <a:p>
                      <a:pPr>
                        <a:buNone/>
                      </a:pPr>
                      <a:r>
                        <a:rPr lang="en-IN" sz="1200"/>
                        <a:t>1</a:t>
                      </a:r>
                    </a:p>
                  </a:txBody>
                  <a:tcPr marL="18270" marR="18270" marT="9135" marB="9135" anchor="ctr"/>
                </a:tc>
                <a:tc>
                  <a:txBody>
                    <a:bodyPr/>
                    <a:lstStyle/>
                    <a:p>
                      <a:pPr>
                        <a:buNone/>
                      </a:pPr>
                      <a:r>
                        <a:rPr lang="en-IN" sz="1200"/>
                        <a:t>Smart Campus: A Review (2020)</a:t>
                      </a:r>
                    </a:p>
                  </a:txBody>
                  <a:tcPr marL="18270" marR="18270" marT="9135" marB="9135" anchor="ctr"/>
                </a:tc>
                <a:tc>
                  <a:txBody>
                    <a:bodyPr/>
                    <a:lstStyle/>
                    <a:p>
                      <a:pPr>
                        <a:buNone/>
                      </a:pPr>
                      <a:r>
                        <a:rPr lang="en-IN" sz="1200"/>
                        <a:t>Alam, M. et al.</a:t>
                      </a:r>
                    </a:p>
                  </a:txBody>
                  <a:tcPr marL="18270" marR="18270" marT="9135" marB="9135" anchor="ctr"/>
                </a:tc>
                <a:tc>
                  <a:txBody>
                    <a:bodyPr/>
                    <a:lstStyle/>
                    <a:p>
                      <a:pPr>
                        <a:buNone/>
                      </a:pPr>
                      <a:r>
                        <a:rPr lang="en-IN" sz="1200"/>
                        <a:t>Reviewed smart campus solutions and applications across education, IoT and data analytics.</a:t>
                      </a:r>
                    </a:p>
                  </a:txBody>
                  <a:tcPr marL="18270" marR="18270" marT="9135" marB="9135" anchor="ctr"/>
                </a:tc>
                <a:tc>
                  <a:txBody>
                    <a:bodyPr/>
                    <a:lstStyle/>
                    <a:p>
                      <a:pPr>
                        <a:buNone/>
                      </a:pPr>
                      <a:r>
                        <a:rPr lang="en-IN" sz="1200"/>
                        <a:t>Focuses on individual services; no unified data platform.</a:t>
                      </a:r>
                    </a:p>
                  </a:txBody>
                  <a:tcPr marL="18270" marR="18270" marT="9135" marB="9135" anchor="ctr"/>
                </a:tc>
                <a:tc>
                  <a:txBody>
                    <a:bodyPr/>
                    <a:lstStyle/>
                    <a:p>
                      <a:pPr>
                        <a:buNone/>
                      </a:pPr>
                      <a:r>
                        <a:rPr lang="en-IN" sz="1200"/>
                        <a:t>Integrate multiple campus services into one platform.</a:t>
                      </a:r>
                    </a:p>
                  </a:txBody>
                  <a:tcPr marL="18270" marR="18270" marT="9135" marB="9135" anchor="ctr"/>
                </a:tc>
                <a:tc>
                  <a:txBody>
                    <a:bodyPr/>
                    <a:lstStyle/>
                    <a:p>
                      <a:pPr>
                        <a:buNone/>
                      </a:pPr>
                      <a:r>
                        <a:rPr lang="en-IN" sz="1200">
                          <a:hlinkClick r:id="rId2"/>
                        </a:rPr>
                        <a:t>https://doi.org/10.3390/s20082149</a:t>
                      </a:r>
                      <a:endParaRPr lang="en-IN" sz="1200"/>
                    </a:p>
                  </a:txBody>
                  <a:tcPr marL="18270" marR="18270" marT="9135" marB="9135" anchor="ctr"/>
                </a:tc>
                <a:extLst>
                  <a:ext uri="{0D108BD9-81ED-4DB2-BD59-A6C34878D82A}">
                    <a16:rowId xmlns:a16="http://schemas.microsoft.com/office/drawing/2014/main" val="1680211162"/>
                  </a:ext>
                </a:extLst>
              </a:tr>
              <a:tr h="979431">
                <a:tc>
                  <a:txBody>
                    <a:bodyPr/>
                    <a:lstStyle/>
                    <a:p>
                      <a:pPr>
                        <a:buNone/>
                      </a:pPr>
                      <a:r>
                        <a:rPr lang="en-IN" sz="1200"/>
                        <a:t>2</a:t>
                      </a:r>
                    </a:p>
                  </a:txBody>
                  <a:tcPr marL="18270" marR="18270" marT="9135" marB="9135" anchor="ctr"/>
                </a:tc>
                <a:tc>
                  <a:txBody>
                    <a:bodyPr/>
                    <a:lstStyle/>
                    <a:p>
                      <a:pPr>
                        <a:buNone/>
                      </a:pPr>
                      <a:r>
                        <a:rPr lang="en-IN" sz="1200"/>
                        <a:t>IoT for Smart Campus (2020)</a:t>
                      </a:r>
                    </a:p>
                  </a:txBody>
                  <a:tcPr marL="18270" marR="18270" marT="9135" marB="9135" anchor="ctr"/>
                </a:tc>
                <a:tc>
                  <a:txBody>
                    <a:bodyPr/>
                    <a:lstStyle/>
                    <a:p>
                      <a:pPr>
                        <a:buNone/>
                      </a:pPr>
                      <a:r>
                        <a:rPr lang="en-IN" sz="1200"/>
                        <a:t>Pasetti, M. et al.</a:t>
                      </a:r>
                    </a:p>
                  </a:txBody>
                  <a:tcPr marL="18270" marR="18270" marT="9135" marB="9135" anchor="ctr"/>
                </a:tc>
                <a:tc>
                  <a:txBody>
                    <a:bodyPr/>
                    <a:lstStyle/>
                    <a:p>
                      <a:pPr>
                        <a:buNone/>
                      </a:pPr>
                      <a:r>
                        <a:rPr lang="en-IN" sz="1200"/>
                        <a:t>Proposed an IoT-based system for real-time monitoring such as energy and transportation.</a:t>
                      </a:r>
                    </a:p>
                  </a:txBody>
                  <a:tcPr marL="18270" marR="18270" marT="9135" marB="9135" anchor="ctr"/>
                </a:tc>
                <a:tc>
                  <a:txBody>
                    <a:bodyPr/>
                    <a:lstStyle/>
                    <a:p>
                      <a:pPr>
                        <a:buNone/>
                      </a:pPr>
                      <a:r>
                        <a:rPr lang="en-IN" sz="1200"/>
                        <a:t>Mainly focuses on IoT and specific applications.</a:t>
                      </a:r>
                    </a:p>
                  </a:txBody>
                  <a:tcPr marL="18270" marR="18270" marT="9135" marB="9135" anchor="ctr"/>
                </a:tc>
                <a:tc>
                  <a:txBody>
                    <a:bodyPr/>
                    <a:lstStyle/>
                    <a:p>
                      <a:pPr>
                        <a:buNone/>
                      </a:pPr>
                      <a:r>
                        <a:rPr lang="en-IN" sz="1200"/>
                        <a:t>Extend to more campus services and integrate with data analytics.</a:t>
                      </a:r>
                    </a:p>
                  </a:txBody>
                  <a:tcPr marL="18270" marR="18270" marT="9135" marB="9135" anchor="ctr"/>
                </a:tc>
                <a:tc>
                  <a:txBody>
                    <a:bodyPr/>
                    <a:lstStyle/>
                    <a:p>
                      <a:pPr>
                        <a:buNone/>
                      </a:pPr>
                      <a:r>
                        <a:rPr lang="en-IN" sz="1200">
                          <a:hlinkClick r:id="rId3"/>
                        </a:rPr>
                        <a:t>https://doi.org/10.3390/app10010320</a:t>
                      </a:r>
                      <a:endParaRPr lang="en-IN" sz="1200"/>
                    </a:p>
                  </a:txBody>
                  <a:tcPr marL="18270" marR="18270" marT="9135" marB="9135" anchor="ctr"/>
                </a:tc>
                <a:extLst>
                  <a:ext uri="{0D108BD9-81ED-4DB2-BD59-A6C34878D82A}">
                    <a16:rowId xmlns:a16="http://schemas.microsoft.com/office/drawing/2014/main" val="163669378"/>
                  </a:ext>
                </a:extLst>
              </a:tr>
              <a:tr h="720169">
                <a:tc>
                  <a:txBody>
                    <a:bodyPr/>
                    <a:lstStyle/>
                    <a:p>
                      <a:pPr>
                        <a:buNone/>
                      </a:pPr>
                      <a:r>
                        <a:rPr lang="en-IN" sz="1200"/>
                        <a:t>3</a:t>
                      </a:r>
                    </a:p>
                  </a:txBody>
                  <a:tcPr marL="18270" marR="18270" marT="9135" marB="9135" anchor="ctr"/>
                </a:tc>
                <a:tc>
                  <a:txBody>
                    <a:bodyPr/>
                    <a:lstStyle/>
                    <a:p>
                      <a:pPr>
                        <a:buNone/>
                      </a:pPr>
                      <a:r>
                        <a:rPr lang="en-IN" sz="1200"/>
                        <a:t>Campus Data Integration using ETL (2021)</a:t>
                      </a:r>
                    </a:p>
                  </a:txBody>
                  <a:tcPr marL="18270" marR="18270" marT="9135" marB="9135" anchor="ctr"/>
                </a:tc>
                <a:tc>
                  <a:txBody>
                    <a:bodyPr/>
                    <a:lstStyle/>
                    <a:p>
                      <a:pPr>
                        <a:buNone/>
                      </a:pPr>
                      <a:r>
                        <a:rPr lang="en-IN" sz="1200"/>
                        <a:t>Kumar, R. et al.</a:t>
                      </a:r>
                    </a:p>
                  </a:txBody>
                  <a:tcPr marL="18270" marR="18270" marT="9135" marB="9135" anchor="ctr"/>
                </a:tc>
                <a:tc>
                  <a:txBody>
                    <a:bodyPr/>
                    <a:lstStyle/>
                    <a:p>
                      <a:pPr>
                        <a:buNone/>
                      </a:pPr>
                      <a:r>
                        <a:rPr lang="en-IN" sz="1200"/>
                        <a:t>Used ETL pipeline to integrate data from multiple campus sources.</a:t>
                      </a:r>
                    </a:p>
                  </a:txBody>
                  <a:tcPr marL="18270" marR="18270" marT="9135" marB="9135" anchor="ctr"/>
                </a:tc>
                <a:tc>
                  <a:txBody>
                    <a:bodyPr/>
                    <a:lstStyle/>
                    <a:p>
                      <a:pPr>
                        <a:buNone/>
                      </a:pPr>
                      <a:r>
                        <a:rPr lang="en-IN" sz="1200"/>
                        <a:t>Limited scalability and real-time processing.</a:t>
                      </a:r>
                    </a:p>
                  </a:txBody>
                  <a:tcPr marL="18270" marR="18270" marT="9135" marB="9135" anchor="ctr"/>
                </a:tc>
                <a:tc>
                  <a:txBody>
                    <a:bodyPr/>
                    <a:lstStyle/>
                    <a:p>
                      <a:pPr>
                        <a:buNone/>
                      </a:pPr>
                      <a:r>
                        <a:rPr lang="en-IN" sz="1200"/>
                        <a:t>Improve scalability and support real-time data integration.</a:t>
                      </a:r>
                    </a:p>
                  </a:txBody>
                  <a:tcPr marL="18270" marR="18270" marT="9135" marB="9135" anchor="ctr"/>
                </a:tc>
                <a:tc>
                  <a:txBody>
                    <a:bodyPr/>
                    <a:lstStyle/>
                    <a:p>
                      <a:pPr>
                        <a:buNone/>
                      </a:pPr>
                      <a:r>
                        <a:rPr lang="en-IN" sz="1200">
                          <a:hlinkClick r:id="rId4"/>
                        </a:rPr>
                        <a:t>https://doi.org/10.1109/ICICS50911.2021.9392921</a:t>
                      </a:r>
                      <a:endParaRPr lang="en-IN" sz="1200"/>
                    </a:p>
                  </a:txBody>
                  <a:tcPr marL="18270" marR="18270" marT="9135" marB="9135" anchor="ctr"/>
                </a:tc>
                <a:extLst>
                  <a:ext uri="{0D108BD9-81ED-4DB2-BD59-A6C34878D82A}">
                    <a16:rowId xmlns:a16="http://schemas.microsoft.com/office/drawing/2014/main" val="2148691457"/>
                  </a:ext>
                </a:extLst>
              </a:tr>
              <a:tr h="979431">
                <a:tc>
                  <a:txBody>
                    <a:bodyPr/>
                    <a:lstStyle/>
                    <a:p>
                      <a:pPr>
                        <a:buNone/>
                      </a:pPr>
                      <a:r>
                        <a:rPr lang="en-IN" sz="1200"/>
                        <a:t>4</a:t>
                      </a:r>
                    </a:p>
                  </a:txBody>
                  <a:tcPr marL="18270" marR="18270" marT="9135" marB="9135" anchor="ctr"/>
                </a:tc>
                <a:tc>
                  <a:txBody>
                    <a:bodyPr/>
                    <a:lstStyle/>
                    <a:p>
                      <a:pPr>
                        <a:buNone/>
                      </a:pPr>
                      <a:r>
                        <a:rPr lang="en-IN" sz="1200"/>
                        <a:t>Data Warehousing for Education (2022)</a:t>
                      </a:r>
                    </a:p>
                  </a:txBody>
                  <a:tcPr marL="18270" marR="18270" marT="9135" marB="9135" anchor="ctr"/>
                </a:tc>
                <a:tc>
                  <a:txBody>
                    <a:bodyPr/>
                    <a:lstStyle/>
                    <a:p>
                      <a:pPr>
                        <a:buNone/>
                      </a:pPr>
                      <a:r>
                        <a:rPr lang="en-IN" sz="1200"/>
                        <a:t>Singh, A. et al.</a:t>
                      </a:r>
                    </a:p>
                  </a:txBody>
                  <a:tcPr marL="18270" marR="18270" marT="9135" marB="9135" anchor="ctr"/>
                </a:tc>
                <a:tc>
                  <a:txBody>
                    <a:bodyPr/>
                    <a:lstStyle/>
                    <a:p>
                      <a:pPr>
                        <a:buNone/>
                      </a:pPr>
                      <a:r>
                        <a:rPr lang="en-IN" sz="1200"/>
                        <a:t>Implemented a data warehouse for academic data to support reporting and decision-making.</a:t>
                      </a:r>
                    </a:p>
                  </a:txBody>
                  <a:tcPr marL="18270" marR="18270" marT="9135" marB="9135" anchor="ctr"/>
                </a:tc>
                <a:tc>
                  <a:txBody>
                    <a:bodyPr/>
                    <a:lstStyle/>
                    <a:p>
                      <a:pPr>
                        <a:buNone/>
                      </a:pPr>
                      <a:r>
                        <a:rPr lang="en-IN" sz="1200"/>
                        <a:t>Covers only academic data; other campus data not included.</a:t>
                      </a:r>
                    </a:p>
                  </a:txBody>
                  <a:tcPr marL="18270" marR="18270" marT="9135" marB="9135" anchor="ctr"/>
                </a:tc>
                <a:tc>
                  <a:txBody>
                    <a:bodyPr/>
                    <a:lstStyle/>
                    <a:p>
                      <a:pPr>
                        <a:buNone/>
                      </a:pPr>
                      <a:r>
                        <a:rPr lang="en-IN" sz="1200"/>
                        <a:t>Integrate all campus domains such as attendance, events and facilities.</a:t>
                      </a:r>
                    </a:p>
                  </a:txBody>
                  <a:tcPr marL="18270" marR="18270" marT="9135" marB="9135" anchor="ctr"/>
                </a:tc>
                <a:tc>
                  <a:txBody>
                    <a:bodyPr/>
                    <a:lstStyle/>
                    <a:p>
                      <a:pPr>
                        <a:buNone/>
                      </a:pPr>
                      <a:r>
                        <a:rPr lang="en-IN" sz="1200">
                          <a:hlinkClick r:id="rId5"/>
                        </a:rPr>
                        <a:t>https://doi.org/10.1016/j.procs.2022.05.123</a:t>
                      </a:r>
                      <a:endParaRPr lang="en-IN" sz="1200"/>
                    </a:p>
                  </a:txBody>
                  <a:tcPr marL="18270" marR="18270" marT="9135" marB="9135" anchor="ctr"/>
                </a:tc>
                <a:extLst>
                  <a:ext uri="{0D108BD9-81ED-4DB2-BD59-A6C34878D82A}">
                    <a16:rowId xmlns:a16="http://schemas.microsoft.com/office/drawing/2014/main" val="663909375"/>
                  </a:ext>
                </a:extLst>
              </a:tr>
              <a:tr h="979431">
                <a:tc>
                  <a:txBody>
                    <a:bodyPr/>
                    <a:lstStyle/>
                    <a:p>
                      <a:pPr>
                        <a:buNone/>
                      </a:pPr>
                      <a:r>
                        <a:rPr lang="en-IN" sz="1200"/>
                        <a:t>5</a:t>
                      </a:r>
                    </a:p>
                  </a:txBody>
                  <a:tcPr marL="18270" marR="18270" marT="9135" marB="9135" anchor="ctr"/>
                </a:tc>
                <a:tc>
                  <a:txBody>
                    <a:bodyPr/>
                    <a:lstStyle/>
                    <a:p>
                      <a:pPr>
                        <a:buNone/>
                      </a:pPr>
                      <a:r>
                        <a:rPr lang="en-IN" sz="1200"/>
                        <a:t>Smart Campus Architecture (2023)</a:t>
                      </a:r>
                    </a:p>
                  </a:txBody>
                  <a:tcPr marL="18270" marR="18270" marT="9135" marB="9135" anchor="ctr"/>
                </a:tc>
                <a:tc>
                  <a:txBody>
                    <a:bodyPr/>
                    <a:lstStyle/>
                    <a:p>
                      <a:pPr>
                        <a:buNone/>
                      </a:pPr>
                      <a:r>
                        <a:rPr lang="en-IN" sz="1200"/>
                        <a:t>Polin, K. et al.</a:t>
                      </a:r>
                    </a:p>
                  </a:txBody>
                  <a:tcPr marL="18270" marR="18270" marT="9135" marB="9135" anchor="ctr"/>
                </a:tc>
                <a:tc>
                  <a:txBody>
                    <a:bodyPr/>
                    <a:lstStyle/>
                    <a:p>
                      <a:pPr>
                        <a:buNone/>
                      </a:pPr>
                      <a:r>
                        <a:rPr lang="en-IN" sz="1200"/>
                        <a:t>Proposed a conceptual framework for smart campus with IoT, AI and sustainability.</a:t>
                      </a:r>
                    </a:p>
                  </a:txBody>
                  <a:tcPr marL="18270" marR="18270" marT="9135" marB="9135" anchor="ctr"/>
                </a:tc>
                <a:tc>
                  <a:txBody>
                    <a:bodyPr/>
                    <a:lstStyle/>
                    <a:p>
                      <a:pPr>
                        <a:buNone/>
                      </a:pPr>
                      <a:r>
                        <a:rPr lang="en-IN" sz="1200"/>
                        <a:t>Lack of real-world implementation.</a:t>
                      </a:r>
                    </a:p>
                  </a:txBody>
                  <a:tcPr marL="18270" marR="18270" marT="9135" marB="9135" anchor="ctr"/>
                </a:tc>
                <a:tc>
                  <a:txBody>
                    <a:bodyPr/>
                    <a:lstStyle/>
                    <a:p>
                      <a:pPr>
                        <a:buNone/>
                      </a:pPr>
                      <a:r>
                        <a:rPr lang="en-IN" sz="1200"/>
                        <a:t>Develop a comprehensive and scalable smart campus platform.</a:t>
                      </a:r>
                    </a:p>
                  </a:txBody>
                  <a:tcPr marL="18270" marR="18270" marT="9135" marB="9135" anchor="ctr"/>
                </a:tc>
                <a:tc>
                  <a:txBody>
                    <a:bodyPr/>
                    <a:lstStyle/>
                    <a:p>
                      <a:pPr>
                        <a:buNone/>
                      </a:pPr>
                      <a:r>
                        <a:rPr lang="en-IN" sz="1200" dirty="0">
                          <a:hlinkClick r:id="rId6"/>
                        </a:rPr>
                        <a:t>https://doi.org/10.3390/buildings13040891</a:t>
                      </a:r>
                      <a:endParaRPr lang="en-IN" sz="1200" dirty="0"/>
                    </a:p>
                  </a:txBody>
                  <a:tcPr marL="18270" marR="18270" marT="9135" marB="9135" anchor="ctr"/>
                </a:tc>
                <a:extLst>
                  <a:ext uri="{0D108BD9-81ED-4DB2-BD59-A6C34878D82A}">
                    <a16:rowId xmlns:a16="http://schemas.microsoft.com/office/drawing/2014/main" val="3065728208"/>
                  </a:ext>
                </a:extLst>
              </a:tr>
            </a:tbl>
          </a:graphicData>
        </a:graphic>
      </p:graphicFrame>
      <p:sp>
        <p:nvSpPr>
          <p:cNvPr id="4" name="TextBox 3">
            <a:extLst>
              <a:ext uri="{FF2B5EF4-FFF2-40B4-BE49-F238E27FC236}">
                <a16:creationId xmlns:a16="http://schemas.microsoft.com/office/drawing/2014/main" id="{7ADE059E-AE7C-E53C-AA93-4B534BD99491}"/>
              </a:ext>
            </a:extLst>
          </p:cNvPr>
          <p:cNvSpPr txBox="1"/>
          <p:nvPr/>
        </p:nvSpPr>
        <p:spPr>
          <a:xfrm>
            <a:off x="648929" y="265471"/>
            <a:ext cx="10805652" cy="523220"/>
          </a:xfrm>
          <a:prstGeom prst="rect">
            <a:avLst/>
          </a:prstGeom>
          <a:noFill/>
        </p:spPr>
        <p:txBody>
          <a:bodyPr wrap="square" rtlCol="0">
            <a:spAutoFit/>
          </a:bodyPr>
          <a:lstStyle/>
          <a:p>
            <a:pPr algn="ctr"/>
            <a:r>
              <a:rPr lang="en-IN" sz="2800" b="1" dirty="0"/>
              <a:t>Literature Survey</a:t>
            </a:r>
          </a:p>
        </p:txBody>
      </p:sp>
    </p:spTree>
    <p:extLst>
      <p:ext uri="{BB962C8B-B14F-4D97-AF65-F5344CB8AC3E}">
        <p14:creationId xmlns:p14="http://schemas.microsoft.com/office/powerpoint/2010/main" val="3376264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183988F-F818-470A-270A-7DEF4ED3075A}"/>
              </a:ext>
            </a:extLst>
          </p:cNvPr>
          <p:cNvPicPr>
            <a:picLocks noChangeAspect="1"/>
          </p:cNvPicPr>
          <p:nvPr/>
        </p:nvPicPr>
        <p:blipFill>
          <a:blip r:embed="rId2"/>
          <a:stretch>
            <a:fillRect/>
          </a:stretch>
        </p:blipFill>
        <p:spPr>
          <a:xfrm>
            <a:off x="-1" y="0"/>
            <a:ext cx="12192001" cy="7462684"/>
          </a:xfrm>
          <a:prstGeom prst="rect">
            <a:avLst/>
          </a:prstGeom>
        </p:spPr>
      </p:pic>
    </p:spTree>
    <p:extLst>
      <p:ext uri="{BB962C8B-B14F-4D97-AF65-F5344CB8AC3E}">
        <p14:creationId xmlns:p14="http://schemas.microsoft.com/office/powerpoint/2010/main" val="16371703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841</Words>
  <Application>Microsoft Office PowerPoint</Application>
  <PresentationFormat>Widescreen</PresentationFormat>
  <Paragraphs>89</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SMART CAMPUS DATA HUB</vt:lpstr>
      <vt:lpstr>Abstract</vt:lpstr>
      <vt:lpstr>Introduction</vt:lpstr>
      <vt:lpstr>Project Objective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Sree Vaishnavi</dc:creator>
  <cp:lastModifiedBy>Sree Vaishnavi</cp:lastModifiedBy>
  <cp:revision>1</cp:revision>
  <dcterms:created xsi:type="dcterms:W3CDTF">2026-09-18T05:39:37Z</dcterms:created>
  <dcterms:modified xsi:type="dcterms:W3CDTF">2026-09-18T05:42:20Z</dcterms:modified>
</cp:coreProperties>
</file>